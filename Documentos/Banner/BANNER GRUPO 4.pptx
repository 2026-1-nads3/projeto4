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28800425" cy="43200638"/>
  <p:notesSz cx="6858000" cy="9144000"/>
  <p:embeddedFontLst>
    <p:embeddedFont>
      <p:font typeface="Open Sans 1" panose="020B0604020202020204" charset="0"/>
      <p:regular r:id="rId3"/>
    </p:embeddedFont>
    <p:embeddedFont>
      <p:font typeface="Open Sans 1 Bold" panose="020B0604020202020204" charset="0"/>
      <p:regular r:id="rId4"/>
    </p:embeddedFont>
    <p:embeddedFont>
      <p:font typeface="Open Sans 2" panose="020B0604020202020204" charset="0"/>
      <p:regular r:id="rId5"/>
    </p:embeddedFont>
    <p:embeddedFont>
      <p:font typeface="Open Sans 2 Bold" panose="020B0604020202020204" charset="0"/>
      <p:regular r:id="rId6"/>
    </p:embeddedFont>
  </p:embeddedFontLst>
  <p:defaultTextStyle>
    <a:defPPr>
      <a:defRPr lang="en-US"/>
    </a:defPPr>
    <a:lvl1pPr marL="0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1pPr>
    <a:lvl2pPr marL="902193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2pPr>
    <a:lvl3pPr marL="1804386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3pPr>
    <a:lvl4pPr marL="2706578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4pPr>
    <a:lvl5pPr marL="3608771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5pPr>
    <a:lvl6pPr marL="4510964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6pPr>
    <a:lvl7pPr marL="5413157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7pPr>
    <a:lvl8pPr marL="6315349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8pPr>
    <a:lvl9pPr marL="7217542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66" userDrawn="1">
          <p15:clr>
            <a:srgbClr val="A4A3A4"/>
          </p15:clr>
        </p15:guide>
        <p15:guide id="2" pos="54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EE06F7-2A88-0208-DDC2-CB23BF84B8B7}" v="478" dt="2026-05-04T21:10:51.2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806" y="-6446"/>
      </p:cViewPr>
      <p:guideLst>
        <p:guide orient="horz" pos="4366"/>
        <p:guide pos="54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microsoft.com/office/2015/10/relationships/revisionInfo" Target="revisionInfo.xml"/><Relationship Id="rId5" Type="http://schemas.openxmlformats.org/officeDocument/2006/relationships/font" Target="fonts/font3.fntdata"/><Relationship Id="rId10" Type="http://schemas.openxmlformats.org/officeDocument/2006/relationships/tableStyles" Target="tableStyles.xml"/><Relationship Id="rId4" Type="http://schemas.openxmlformats.org/officeDocument/2006/relationships/font" Target="fonts/font2.fntdata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6910" y="4305947"/>
            <a:ext cx="14811647" cy="29711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13820" y="7854662"/>
            <a:ext cx="12197827" cy="354229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871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7425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61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4851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3564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2277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0990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970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492" y="8907084"/>
            <a:ext cx="14811647" cy="2752982"/>
          </a:xfrm>
        </p:spPr>
        <p:txBody>
          <a:bodyPr anchor="t"/>
          <a:lstStyle>
            <a:lvl1pPr algn="l">
              <a:defRPr sz="762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492" y="5874955"/>
            <a:ext cx="14811647" cy="3032129"/>
          </a:xfrm>
        </p:spPr>
        <p:txBody>
          <a:bodyPr anchor="b"/>
          <a:lstStyle>
            <a:lvl1pPr marL="0" indent="0">
              <a:buNone/>
              <a:defRPr sz="3811">
                <a:solidFill>
                  <a:schemeClr val="tx1">
                    <a:tint val="75000"/>
                  </a:schemeClr>
                </a:solidFill>
              </a:defRPr>
            </a:lvl1pPr>
            <a:lvl2pPr marL="871286" indent="0">
              <a:buNone/>
              <a:defRPr sz="3430">
                <a:solidFill>
                  <a:schemeClr val="tx1">
                    <a:tint val="75000"/>
                  </a:schemeClr>
                </a:solidFill>
              </a:defRPr>
            </a:lvl2pPr>
            <a:lvl3pPr marL="1742572" indent="0">
              <a:buNone/>
              <a:defRPr sz="3049">
                <a:solidFill>
                  <a:schemeClr val="tx1">
                    <a:tint val="75000"/>
                  </a:schemeClr>
                </a:solidFill>
              </a:defRPr>
            </a:lvl3pPr>
            <a:lvl4pPr marL="2613858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4pPr>
            <a:lvl5pPr marL="3485144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5pPr>
            <a:lvl6pPr marL="4356430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6pPr>
            <a:lvl7pPr marL="5227716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7pPr>
            <a:lvl8pPr marL="6099002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8pPr>
            <a:lvl9pPr marL="6970288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71273" y="3234273"/>
            <a:ext cx="7696248" cy="9147730"/>
          </a:xfrm>
        </p:spPr>
        <p:txBody>
          <a:bodyPr/>
          <a:lstStyle>
            <a:lvl1pPr>
              <a:defRPr sz="5336"/>
            </a:lvl1pPr>
            <a:lvl2pPr>
              <a:defRPr sz="4574"/>
            </a:lvl2pPr>
            <a:lvl3pPr>
              <a:defRPr sz="3811"/>
            </a:lvl3pPr>
            <a:lvl4pPr>
              <a:defRPr sz="3430"/>
            </a:lvl4pPr>
            <a:lvl5pPr>
              <a:defRPr sz="3430"/>
            </a:lvl5pPr>
            <a:lvl6pPr>
              <a:defRPr sz="3430"/>
            </a:lvl6pPr>
            <a:lvl7pPr>
              <a:defRPr sz="3430"/>
            </a:lvl7pPr>
            <a:lvl8pPr>
              <a:defRPr sz="3430"/>
            </a:lvl8pPr>
            <a:lvl9pPr>
              <a:defRPr sz="343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57946" y="3234273"/>
            <a:ext cx="7696248" cy="9147730"/>
          </a:xfrm>
        </p:spPr>
        <p:txBody>
          <a:bodyPr/>
          <a:lstStyle>
            <a:lvl1pPr>
              <a:defRPr sz="5336"/>
            </a:lvl1pPr>
            <a:lvl2pPr>
              <a:defRPr sz="4574"/>
            </a:lvl2pPr>
            <a:lvl3pPr>
              <a:defRPr sz="3811"/>
            </a:lvl3pPr>
            <a:lvl4pPr>
              <a:defRPr sz="3430"/>
            </a:lvl4pPr>
            <a:lvl5pPr>
              <a:defRPr sz="3430"/>
            </a:lvl5pPr>
            <a:lvl6pPr>
              <a:defRPr sz="3430"/>
            </a:lvl6pPr>
            <a:lvl7pPr>
              <a:defRPr sz="3430"/>
            </a:lvl7pPr>
            <a:lvl8pPr>
              <a:defRPr sz="3430"/>
            </a:lvl8pPr>
            <a:lvl9pPr>
              <a:defRPr sz="343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1273" y="3102721"/>
            <a:ext cx="7699274" cy="1293066"/>
          </a:xfrm>
        </p:spPr>
        <p:txBody>
          <a:bodyPr anchor="b"/>
          <a:lstStyle>
            <a:lvl1pPr marL="0" indent="0">
              <a:buNone/>
              <a:defRPr sz="4574" b="1"/>
            </a:lvl1pPr>
            <a:lvl2pPr marL="871286" indent="0">
              <a:buNone/>
              <a:defRPr sz="3811" b="1"/>
            </a:lvl2pPr>
            <a:lvl3pPr marL="1742572" indent="0">
              <a:buNone/>
              <a:defRPr sz="3430" b="1"/>
            </a:lvl3pPr>
            <a:lvl4pPr marL="2613858" indent="0">
              <a:buNone/>
              <a:defRPr sz="3049" b="1"/>
            </a:lvl4pPr>
            <a:lvl5pPr marL="3485144" indent="0">
              <a:buNone/>
              <a:defRPr sz="3049" b="1"/>
            </a:lvl5pPr>
            <a:lvl6pPr marL="4356430" indent="0">
              <a:buNone/>
              <a:defRPr sz="3049" b="1"/>
            </a:lvl6pPr>
            <a:lvl7pPr marL="5227716" indent="0">
              <a:buNone/>
              <a:defRPr sz="3049" b="1"/>
            </a:lvl7pPr>
            <a:lvl8pPr marL="6099002" indent="0">
              <a:buNone/>
              <a:defRPr sz="3049" b="1"/>
            </a:lvl8pPr>
            <a:lvl9pPr marL="6970288" indent="0">
              <a:buNone/>
              <a:defRPr sz="304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1273" y="4395787"/>
            <a:ext cx="7699274" cy="7986215"/>
          </a:xfrm>
        </p:spPr>
        <p:txBody>
          <a:bodyPr/>
          <a:lstStyle>
            <a:lvl1pPr>
              <a:defRPr sz="4574"/>
            </a:lvl1pPr>
            <a:lvl2pPr>
              <a:defRPr sz="3811"/>
            </a:lvl2pPr>
            <a:lvl3pPr>
              <a:defRPr sz="3430"/>
            </a:lvl3pPr>
            <a:lvl4pPr>
              <a:defRPr sz="3049"/>
            </a:lvl4pPr>
            <a:lvl5pPr>
              <a:defRPr sz="3049"/>
            </a:lvl5pPr>
            <a:lvl6pPr>
              <a:defRPr sz="3049"/>
            </a:lvl6pPr>
            <a:lvl7pPr>
              <a:defRPr sz="3049"/>
            </a:lvl7pPr>
            <a:lvl8pPr>
              <a:defRPr sz="3049"/>
            </a:lvl8pPr>
            <a:lvl9pPr>
              <a:defRPr sz="30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851896" y="3102721"/>
            <a:ext cx="7702299" cy="1293066"/>
          </a:xfrm>
        </p:spPr>
        <p:txBody>
          <a:bodyPr anchor="b"/>
          <a:lstStyle>
            <a:lvl1pPr marL="0" indent="0">
              <a:buNone/>
              <a:defRPr sz="4574" b="1"/>
            </a:lvl1pPr>
            <a:lvl2pPr marL="871286" indent="0">
              <a:buNone/>
              <a:defRPr sz="3811" b="1"/>
            </a:lvl2pPr>
            <a:lvl3pPr marL="1742572" indent="0">
              <a:buNone/>
              <a:defRPr sz="3430" b="1"/>
            </a:lvl3pPr>
            <a:lvl4pPr marL="2613858" indent="0">
              <a:buNone/>
              <a:defRPr sz="3049" b="1"/>
            </a:lvl4pPr>
            <a:lvl5pPr marL="3485144" indent="0">
              <a:buNone/>
              <a:defRPr sz="3049" b="1"/>
            </a:lvl5pPr>
            <a:lvl6pPr marL="4356430" indent="0">
              <a:buNone/>
              <a:defRPr sz="3049" b="1"/>
            </a:lvl6pPr>
            <a:lvl7pPr marL="5227716" indent="0">
              <a:buNone/>
              <a:defRPr sz="3049" b="1"/>
            </a:lvl7pPr>
            <a:lvl8pPr marL="6099002" indent="0">
              <a:buNone/>
              <a:defRPr sz="3049" b="1"/>
            </a:lvl8pPr>
            <a:lvl9pPr marL="6970288" indent="0">
              <a:buNone/>
              <a:defRPr sz="304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851896" y="4395787"/>
            <a:ext cx="7702299" cy="7986215"/>
          </a:xfrm>
        </p:spPr>
        <p:txBody>
          <a:bodyPr/>
          <a:lstStyle>
            <a:lvl1pPr>
              <a:defRPr sz="4574"/>
            </a:lvl1pPr>
            <a:lvl2pPr>
              <a:defRPr sz="3811"/>
            </a:lvl2pPr>
            <a:lvl3pPr>
              <a:defRPr sz="3430"/>
            </a:lvl3pPr>
            <a:lvl4pPr>
              <a:defRPr sz="3049"/>
            </a:lvl4pPr>
            <a:lvl5pPr>
              <a:defRPr sz="3049"/>
            </a:lvl5pPr>
            <a:lvl6pPr>
              <a:defRPr sz="3049"/>
            </a:lvl6pPr>
            <a:lvl7pPr>
              <a:defRPr sz="3049"/>
            </a:lvl7pPr>
            <a:lvl8pPr>
              <a:defRPr sz="3049"/>
            </a:lvl8pPr>
            <a:lvl9pPr>
              <a:defRPr sz="30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1274" y="551880"/>
            <a:ext cx="5732859" cy="2348698"/>
          </a:xfrm>
        </p:spPr>
        <p:txBody>
          <a:bodyPr anchor="b"/>
          <a:lstStyle>
            <a:lvl1pPr algn="l">
              <a:defRPr sz="381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2874" y="551881"/>
            <a:ext cx="9741320" cy="11830122"/>
          </a:xfrm>
        </p:spPr>
        <p:txBody>
          <a:bodyPr/>
          <a:lstStyle>
            <a:lvl1pPr>
              <a:defRPr sz="6098"/>
            </a:lvl1pPr>
            <a:lvl2pPr>
              <a:defRPr sz="5336"/>
            </a:lvl2pPr>
            <a:lvl3pPr>
              <a:defRPr sz="4574"/>
            </a:lvl3pPr>
            <a:lvl4pPr>
              <a:defRPr sz="3811"/>
            </a:lvl4pPr>
            <a:lvl5pPr>
              <a:defRPr sz="3811"/>
            </a:lvl5pPr>
            <a:lvl6pPr>
              <a:defRPr sz="3811"/>
            </a:lvl6pPr>
            <a:lvl7pPr>
              <a:defRPr sz="3811"/>
            </a:lvl7pPr>
            <a:lvl8pPr>
              <a:defRPr sz="3811"/>
            </a:lvl8pPr>
            <a:lvl9pPr>
              <a:defRPr sz="38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1274" y="2900579"/>
            <a:ext cx="5732859" cy="9481424"/>
          </a:xfrm>
        </p:spPr>
        <p:txBody>
          <a:bodyPr/>
          <a:lstStyle>
            <a:lvl1pPr marL="0" indent="0">
              <a:buNone/>
              <a:defRPr sz="2668"/>
            </a:lvl1pPr>
            <a:lvl2pPr marL="871286" indent="0">
              <a:buNone/>
              <a:defRPr sz="2287"/>
            </a:lvl2pPr>
            <a:lvl3pPr marL="1742572" indent="0">
              <a:buNone/>
              <a:defRPr sz="1906"/>
            </a:lvl3pPr>
            <a:lvl4pPr marL="2613858" indent="0">
              <a:buNone/>
              <a:defRPr sz="1715"/>
            </a:lvl4pPr>
            <a:lvl5pPr marL="3485144" indent="0">
              <a:buNone/>
              <a:defRPr sz="1715"/>
            </a:lvl5pPr>
            <a:lvl6pPr marL="4356430" indent="0">
              <a:buNone/>
              <a:defRPr sz="1715"/>
            </a:lvl6pPr>
            <a:lvl7pPr marL="5227716" indent="0">
              <a:buNone/>
              <a:defRPr sz="1715"/>
            </a:lvl7pPr>
            <a:lvl8pPr marL="6099002" indent="0">
              <a:buNone/>
              <a:defRPr sz="1715"/>
            </a:lvl8pPr>
            <a:lvl9pPr marL="6970288" indent="0">
              <a:buNone/>
              <a:defRPr sz="17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5514" y="9702817"/>
            <a:ext cx="10455280" cy="1145472"/>
          </a:xfrm>
        </p:spPr>
        <p:txBody>
          <a:bodyPr anchor="b"/>
          <a:lstStyle>
            <a:lvl1pPr algn="l">
              <a:defRPr sz="381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415514" y="1238521"/>
            <a:ext cx="10455280" cy="8316700"/>
          </a:xfrm>
        </p:spPr>
        <p:txBody>
          <a:bodyPr/>
          <a:lstStyle>
            <a:lvl1pPr marL="0" indent="0">
              <a:buNone/>
              <a:defRPr sz="6098"/>
            </a:lvl1pPr>
            <a:lvl2pPr marL="871286" indent="0">
              <a:buNone/>
              <a:defRPr sz="5336"/>
            </a:lvl2pPr>
            <a:lvl3pPr marL="1742572" indent="0">
              <a:buNone/>
              <a:defRPr sz="4574"/>
            </a:lvl3pPr>
            <a:lvl4pPr marL="2613858" indent="0">
              <a:buNone/>
              <a:defRPr sz="3811"/>
            </a:lvl4pPr>
            <a:lvl5pPr marL="3485144" indent="0">
              <a:buNone/>
              <a:defRPr sz="3811"/>
            </a:lvl5pPr>
            <a:lvl6pPr marL="4356430" indent="0">
              <a:buNone/>
              <a:defRPr sz="3811"/>
            </a:lvl6pPr>
            <a:lvl7pPr marL="5227716" indent="0">
              <a:buNone/>
              <a:defRPr sz="3811"/>
            </a:lvl7pPr>
            <a:lvl8pPr marL="6099002" indent="0">
              <a:buNone/>
              <a:defRPr sz="3811"/>
            </a:lvl8pPr>
            <a:lvl9pPr marL="6970288" indent="0">
              <a:buNone/>
              <a:defRPr sz="3811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15514" y="10848290"/>
            <a:ext cx="10455280" cy="1626761"/>
          </a:xfrm>
        </p:spPr>
        <p:txBody>
          <a:bodyPr/>
          <a:lstStyle>
            <a:lvl1pPr marL="0" indent="0">
              <a:buNone/>
              <a:defRPr sz="2668"/>
            </a:lvl1pPr>
            <a:lvl2pPr marL="871286" indent="0">
              <a:buNone/>
              <a:defRPr sz="2287"/>
            </a:lvl2pPr>
            <a:lvl3pPr marL="1742572" indent="0">
              <a:buNone/>
              <a:defRPr sz="1906"/>
            </a:lvl3pPr>
            <a:lvl4pPr marL="2613858" indent="0">
              <a:buNone/>
              <a:defRPr sz="1715"/>
            </a:lvl4pPr>
            <a:lvl5pPr marL="3485144" indent="0">
              <a:buNone/>
              <a:defRPr sz="1715"/>
            </a:lvl5pPr>
            <a:lvl6pPr marL="4356430" indent="0">
              <a:buNone/>
              <a:defRPr sz="1715"/>
            </a:lvl6pPr>
            <a:lvl7pPr marL="5227716" indent="0">
              <a:buNone/>
              <a:defRPr sz="1715"/>
            </a:lvl7pPr>
            <a:lvl8pPr marL="6099002" indent="0">
              <a:buNone/>
              <a:defRPr sz="1715"/>
            </a:lvl8pPr>
            <a:lvl9pPr marL="6970288" indent="0">
              <a:buNone/>
              <a:defRPr sz="17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633464" y="555090"/>
            <a:ext cx="3920730" cy="11826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71273" y="555090"/>
            <a:ext cx="11471766" cy="11826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742572" rtl="0" eaLnBrk="1" latinLnBrk="0" hangingPunct="1">
        <a:spcBef>
          <a:spcPct val="0"/>
        </a:spcBef>
        <a:buNone/>
        <a:defRPr sz="838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53465" indent="-653465" algn="l" defTabSz="1742572" rtl="0" eaLnBrk="1" latinLnBrk="0" hangingPunct="1">
        <a:spcBef>
          <a:spcPct val="20000"/>
        </a:spcBef>
        <a:buFont typeface="Arial" pitchFamily="34" charset="0"/>
        <a:buChar char="•"/>
        <a:defRPr sz="6098" kern="1200">
          <a:solidFill>
            <a:schemeClr val="tx1"/>
          </a:solidFill>
          <a:latin typeface="+mn-lt"/>
          <a:ea typeface="+mn-ea"/>
          <a:cs typeface="+mn-cs"/>
        </a:defRPr>
      </a:lvl1pPr>
      <a:lvl2pPr marL="1415840" indent="-544554" algn="l" defTabSz="1742572" rtl="0" eaLnBrk="1" latinLnBrk="0" hangingPunct="1">
        <a:spcBef>
          <a:spcPct val="20000"/>
        </a:spcBef>
        <a:buFont typeface="Arial" pitchFamily="34" charset="0"/>
        <a:buChar char="–"/>
        <a:defRPr sz="5336" kern="1200">
          <a:solidFill>
            <a:schemeClr val="tx1"/>
          </a:solidFill>
          <a:latin typeface="+mn-lt"/>
          <a:ea typeface="+mn-ea"/>
          <a:cs typeface="+mn-cs"/>
        </a:defRPr>
      </a:lvl2pPr>
      <a:lvl3pPr marL="2178215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4574" kern="1200">
          <a:solidFill>
            <a:schemeClr val="tx1"/>
          </a:solidFill>
          <a:latin typeface="+mn-lt"/>
          <a:ea typeface="+mn-ea"/>
          <a:cs typeface="+mn-cs"/>
        </a:defRPr>
      </a:lvl3pPr>
      <a:lvl4pPr marL="3049501" indent="-435643" algn="l" defTabSz="1742572" rtl="0" eaLnBrk="1" latinLnBrk="0" hangingPunct="1">
        <a:spcBef>
          <a:spcPct val="20000"/>
        </a:spcBef>
        <a:buFont typeface="Arial" pitchFamily="34" charset="0"/>
        <a:buChar char="–"/>
        <a:defRPr sz="3811" kern="1200">
          <a:solidFill>
            <a:schemeClr val="tx1"/>
          </a:solidFill>
          <a:latin typeface="+mn-lt"/>
          <a:ea typeface="+mn-ea"/>
          <a:cs typeface="+mn-cs"/>
        </a:defRPr>
      </a:lvl4pPr>
      <a:lvl5pPr marL="3920787" indent="-435643" algn="l" defTabSz="1742572" rtl="0" eaLnBrk="1" latinLnBrk="0" hangingPunct="1">
        <a:spcBef>
          <a:spcPct val="20000"/>
        </a:spcBef>
        <a:buFont typeface="Arial" pitchFamily="34" charset="0"/>
        <a:buChar char="»"/>
        <a:defRPr sz="3811" kern="1200">
          <a:solidFill>
            <a:schemeClr val="tx1"/>
          </a:solidFill>
          <a:latin typeface="+mn-lt"/>
          <a:ea typeface="+mn-ea"/>
          <a:cs typeface="+mn-cs"/>
        </a:defRPr>
      </a:lvl5pPr>
      <a:lvl6pPr marL="4792073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3811" kern="1200">
          <a:solidFill>
            <a:schemeClr val="tx1"/>
          </a:solidFill>
          <a:latin typeface="+mn-lt"/>
          <a:ea typeface="+mn-ea"/>
          <a:cs typeface="+mn-cs"/>
        </a:defRPr>
      </a:lvl6pPr>
      <a:lvl7pPr marL="5663359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3811" kern="1200">
          <a:solidFill>
            <a:schemeClr val="tx1"/>
          </a:solidFill>
          <a:latin typeface="+mn-lt"/>
          <a:ea typeface="+mn-ea"/>
          <a:cs typeface="+mn-cs"/>
        </a:defRPr>
      </a:lvl7pPr>
      <a:lvl8pPr marL="6534645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3811" kern="1200">
          <a:solidFill>
            <a:schemeClr val="tx1"/>
          </a:solidFill>
          <a:latin typeface="+mn-lt"/>
          <a:ea typeface="+mn-ea"/>
          <a:cs typeface="+mn-cs"/>
        </a:defRPr>
      </a:lvl8pPr>
      <a:lvl9pPr marL="7405931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381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1pPr>
      <a:lvl2pPr marL="871286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2pPr>
      <a:lvl3pPr marL="1742572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3pPr>
      <a:lvl4pPr marL="2613858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4pPr>
      <a:lvl5pPr marL="3485144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5pPr>
      <a:lvl6pPr marL="4356430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6pPr>
      <a:lvl7pPr marL="5227716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7pPr>
      <a:lvl8pPr marL="6099002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8pPr>
      <a:lvl9pPr marL="6970288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developer.android.com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developer.mozilla.org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coffito.gov.br/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34721" y="36779527"/>
            <a:ext cx="29324843" cy="6461592"/>
            <a:chOff x="0" y="0"/>
            <a:chExt cx="3032124" cy="6075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32124" cy="607578"/>
            </a:xfrm>
            <a:custGeom>
              <a:avLst/>
              <a:gdLst/>
              <a:ahLst/>
              <a:cxnLst/>
              <a:rect l="l" t="t" r="r" b="b"/>
              <a:pathLst>
                <a:path w="3032124" h="607578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sp>
        <p:nvSpPr>
          <p:cNvPr id="5" name="Freeform 5"/>
          <p:cNvSpPr/>
          <p:nvPr/>
        </p:nvSpPr>
        <p:spPr>
          <a:xfrm>
            <a:off x="3163237" y="34829695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48959"/>
            </a:stretch>
          </a:blipFill>
        </p:spPr>
        <p:txBody>
          <a:bodyPr/>
          <a:lstStyle/>
          <a:p>
            <a:endParaRPr lang="pt-BR" sz="6769"/>
          </a:p>
        </p:txBody>
      </p:sp>
      <p:grpSp>
        <p:nvGrpSpPr>
          <p:cNvPr id="6" name="Group 6"/>
          <p:cNvGrpSpPr/>
          <p:nvPr/>
        </p:nvGrpSpPr>
        <p:grpSpPr>
          <a:xfrm>
            <a:off x="-234720" y="29306856"/>
            <a:ext cx="29304069" cy="9253255"/>
            <a:chOff x="0" y="0"/>
            <a:chExt cx="3163653" cy="87007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63653" cy="870076"/>
            </a:xfrm>
            <a:custGeom>
              <a:avLst/>
              <a:gdLst/>
              <a:ahLst/>
              <a:cxnLst/>
              <a:rect l="l" t="t" r="r" b="b"/>
              <a:pathLst>
                <a:path w="3163653" h="870076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234719" y="21516783"/>
            <a:ext cx="29324842" cy="8954039"/>
            <a:chOff x="0" y="0"/>
            <a:chExt cx="3225442" cy="84194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225442" cy="841941"/>
            </a:xfrm>
            <a:custGeom>
              <a:avLst/>
              <a:gdLst/>
              <a:ahLst/>
              <a:cxnLst/>
              <a:rect l="l" t="t" r="r" b="b"/>
              <a:pathLst>
                <a:path w="3225442" h="841941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234720" y="16067865"/>
            <a:ext cx="29304069" cy="7866470"/>
            <a:chOff x="0" y="0"/>
            <a:chExt cx="3032124" cy="73967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032124" cy="739677"/>
            </a:xfrm>
            <a:custGeom>
              <a:avLst/>
              <a:gdLst/>
              <a:ahLst/>
              <a:cxnLst/>
              <a:rect l="l" t="t" r="r" b="b"/>
              <a:pathLst>
                <a:path w="3032124" h="739677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234719" y="7322639"/>
            <a:ext cx="29304069" cy="8719626"/>
            <a:chOff x="0" y="0"/>
            <a:chExt cx="3218728" cy="81989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218728" cy="819899"/>
            </a:xfrm>
            <a:custGeom>
              <a:avLst/>
              <a:gdLst/>
              <a:ahLst/>
              <a:cxnLst/>
              <a:rect l="l" t="t" r="r" b="b"/>
              <a:pathLst>
                <a:path w="3218728" h="819899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755436" cy="803341"/>
            </a:xfrm>
            <a:custGeom>
              <a:avLst/>
              <a:gdLst/>
              <a:ahLst/>
              <a:cxnLst/>
              <a:rect l="l" t="t" r="r" b="b"/>
              <a:pathLst>
                <a:path w="2755436" h="803341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21" name="Group 21"/>
          <p:cNvGrpSpPr/>
          <p:nvPr/>
        </p:nvGrpSpPr>
        <p:grpSpPr>
          <a:xfrm rot="16200000">
            <a:off x="11337842" y="13437903"/>
            <a:ext cx="20464104" cy="12527228"/>
            <a:chOff x="0" y="0"/>
            <a:chExt cx="1922704" cy="117699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922704" cy="1176995"/>
            </a:xfrm>
            <a:custGeom>
              <a:avLst/>
              <a:gdLst/>
              <a:ahLst/>
              <a:cxnLst/>
              <a:rect l="l" t="t" r="r" b="b"/>
              <a:pathLst>
                <a:path w="1922704" h="1176995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</p:spPr>
          <p:txBody>
            <a:bodyPr lIns="89001" tIns="89001" rIns="89001" bIns="89001" rtlCol="0" anchor="ctr"/>
            <a:lstStyle/>
            <a:p>
              <a:pPr algn="ctr">
                <a:lnSpc>
                  <a:spcPts val="7596"/>
                </a:lnSpc>
              </a:pPr>
              <a:endParaRPr sz="6769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85860" y="30546235"/>
            <a:ext cx="13908916" cy="7870356"/>
            <a:chOff x="0" y="0"/>
            <a:chExt cx="1302166" cy="82073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02166" cy="820732"/>
            </a:xfrm>
            <a:custGeom>
              <a:avLst/>
              <a:gdLst/>
              <a:ahLst/>
              <a:cxnLst/>
              <a:rect l="l" t="t" r="r" b="b"/>
              <a:pathLst>
                <a:path w="1302166" h="820732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</a:pPr>
              <a:endParaRPr sz="6769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5403306" y="30587441"/>
            <a:ext cx="12527228" cy="7676902"/>
            <a:chOff x="0" y="0"/>
            <a:chExt cx="8764870" cy="5371264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8764870" cy="5371264"/>
              <a:chOff x="0" y="0"/>
              <a:chExt cx="1329056" cy="814469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avLst/>
                <a:gdLst/>
                <a:ahLst/>
                <a:cxnLst/>
                <a:rect l="l" t="t" r="r" b="b"/>
                <a:pathLst>
                  <a:path w="1329056" h="814469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 sz="6769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</p:spPr>
            <p:txBody>
              <a:bodyPr lIns="96808" tIns="96808" rIns="96808" bIns="96808" rtlCol="0" anchor="ctr"/>
              <a:lstStyle/>
              <a:p>
                <a:pPr algn="ctr">
                  <a:lnSpc>
                    <a:spcPts val="7596"/>
                  </a:lnSpc>
                </a:pPr>
                <a:endParaRPr sz="6769"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1064599" y="235141"/>
              <a:ext cx="6635674" cy="4333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10"/>
                </a:lnSpc>
              </a:pPr>
              <a:r>
                <a:rPr lang="en-US" sz="4762" b="1" spc="179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REFERÊNCIAS</a:t>
              </a:r>
            </a:p>
          </p:txBody>
        </p:sp>
      </p:grpSp>
      <p:sp>
        <p:nvSpPr>
          <p:cNvPr id="32" name="Freeform 32"/>
          <p:cNvSpPr/>
          <p:nvPr/>
        </p:nvSpPr>
        <p:spPr>
          <a:xfrm>
            <a:off x="-916543" y="1525353"/>
            <a:ext cx="8571184" cy="2454222"/>
          </a:xfrm>
          <a:custGeom>
            <a:avLst/>
            <a:gdLst/>
            <a:ahLst/>
            <a:cxnLst/>
            <a:rect l="l" t="t" r="r" b="b"/>
            <a:pathLst>
              <a:path w="4497722" h="1287851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sz="6769"/>
          </a:p>
        </p:txBody>
      </p:sp>
      <p:sp>
        <p:nvSpPr>
          <p:cNvPr id="33" name="Freeform 33"/>
          <p:cNvSpPr/>
          <p:nvPr/>
        </p:nvSpPr>
        <p:spPr>
          <a:xfrm>
            <a:off x="3163237" y="-4997460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48959"/>
            </a:stretch>
          </a:blipFill>
        </p:spPr>
        <p:txBody>
          <a:bodyPr/>
          <a:lstStyle/>
          <a:p>
            <a:endParaRPr lang="pt-BR" sz="6769"/>
          </a:p>
        </p:txBody>
      </p:sp>
      <p:sp>
        <p:nvSpPr>
          <p:cNvPr id="34" name="Freeform 34"/>
          <p:cNvSpPr/>
          <p:nvPr/>
        </p:nvSpPr>
        <p:spPr>
          <a:xfrm>
            <a:off x="21014306" y="1712017"/>
            <a:ext cx="7228385" cy="2335060"/>
          </a:xfrm>
          <a:custGeom>
            <a:avLst/>
            <a:gdLst/>
            <a:ahLst/>
            <a:cxnLst/>
            <a:rect l="l" t="t" r="r" b="b"/>
            <a:pathLst>
              <a:path w="3793089" h="1225321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 sz="6769"/>
          </a:p>
        </p:txBody>
      </p:sp>
      <p:sp>
        <p:nvSpPr>
          <p:cNvPr id="36" name="TextBox 36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5077" b="1" spc="192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INTRODUÇÃO</a:t>
            </a:r>
          </a:p>
        </p:txBody>
      </p:sp>
      <p:grpSp>
        <p:nvGrpSpPr>
          <p:cNvPr id="37" name="Group 37"/>
          <p:cNvGrpSpPr/>
          <p:nvPr/>
        </p:nvGrpSpPr>
        <p:grpSpPr>
          <a:xfrm rot="-5400000">
            <a:off x="2748047" y="7730622"/>
            <a:ext cx="10206805" cy="13848538"/>
            <a:chOff x="0" y="0"/>
            <a:chExt cx="958980" cy="130113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58980" cy="1301139"/>
            </a:xfrm>
            <a:custGeom>
              <a:avLst/>
              <a:gdLst/>
              <a:ahLst/>
              <a:cxnLst/>
              <a:rect l="l" t="t" r="r" b="b"/>
              <a:pathLst>
                <a:path w="958980" h="1301139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</p:spPr>
          <p:txBody>
            <a:bodyPr lIns="89001" tIns="89001" rIns="89001" bIns="89001" rtlCol="0" anchor="ctr"/>
            <a:lstStyle/>
            <a:p>
              <a:pPr algn="ctr">
                <a:lnSpc>
                  <a:spcPts val="7596"/>
                </a:lnSpc>
              </a:pPr>
              <a:endParaRPr sz="6769"/>
            </a:p>
          </p:txBody>
        </p:sp>
      </p:grpSp>
      <p:grpSp>
        <p:nvGrpSpPr>
          <p:cNvPr id="40" name="Group 40"/>
          <p:cNvGrpSpPr/>
          <p:nvPr/>
        </p:nvGrpSpPr>
        <p:grpSpPr>
          <a:xfrm rot="16200000">
            <a:off x="2704145" y="18265455"/>
            <a:ext cx="10377204" cy="13931139"/>
            <a:chOff x="0" y="0"/>
            <a:chExt cx="936167" cy="130113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936167" cy="1301139"/>
            </a:xfrm>
            <a:custGeom>
              <a:avLst/>
              <a:gdLst/>
              <a:ahLst/>
              <a:cxnLst/>
              <a:rect l="l" t="t" r="r" b="b"/>
              <a:pathLst>
                <a:path w="936167" h="1301139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</p:spPr>
          <p:txBody>
            <a:bodyPr lIns="89001" tIns="89001" rIns="89001" bIns="89001" rtlCol="0" anchor="ctr"/>
            <a:lstStyle/>
            <a:p>
              <a:pPr algn="ctr">
                <a:lnSpc>
                  <a:spcPts val="7596"/>
                </a:lnSpc>
              </a:pPr>
              <a:endParaRPr sz="6769"/>
            </a:p>
          </p:txBody>
        </p:sp>
      </p:grpSp>
      <p:sp>
        <p:nvSpPr>
          <p:cNvPr id="43" name="Freeform 43"/>
          <p:cNvSpPr/>
          <p:nvPr/>
        </p:nvSpPr>
        <p:spPr>
          <a:xfrm>
            <a:off x="22527251" y="36801439"/>
            <a:ext cx="5609093" cy="5642282"/>
          </a:xfrm>
          <a:custGeom>
            <a:avLst/>
            <a:gdLst/>
            <a:ahLst/>
            <a:cxnLst/>
            <a:rect l="l" t="t" r="r" b="b"/>
            <a:pathLst>
              <a:path w="2943367" h="2960783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BR" sz="6769"/>
          </a:p>
        </p:txBody>
      </p:sp>
      <p:sp>
        <p:nvSpPr>
          <p:cNvPr id="44" name="TextBox 44"/>
          <p:cNvSpPr txBox="1"/>
          <p:nvPr/>
        </p:nvSpPr>
        <p:spPr>
          <a:xfrm>
            <a:off x="-1" y="4700167"/>
            <a:ext cx="28813765" cy="1484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49"/>
              </a:lnSpc>
            </a:pPr>
            <a:r>
              <a:rPr lang="en-US" sz="11400" b="1" spc="433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PROJETO Maya Innovat</a:t>
            </a:r>
            <a:r>
              <a:rPr lang="en-US" sz="11400" b="1" spc="433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ors</a:t>
            </a:r>
            <a:endParaRPr lang="en-US" sz="11434" b="1" spc="433">
              <a:solidFill>
                <a:srgbClr val="000000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2404768" y="6355587"/>
            <a:ext cx="24286089" cy="1661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68"/>
              </a:lnSpc>
            </a:pPr>
            <a:r>
              <a:rPr lang="en-US" sz="4750" b="1">
                <a:latin typeface="Open Sans 2 Bold"/>
                <a:ea typeface="Open Sans 2 Bold"/>
                <a:cs typeface="Open Sans 2 Bold"/>
              </a:rPr>
              <a:t>André Luis, Enzo Minardi, João Guilherme, Samuel Cavalcanti</a:t>
            </a:r>
            <a:r>
              <a:rPr lang="en-US" sz="4750" b="1" dirty="0">
                <a:latin typeface="Open Sans 2 Bold"/>
                <a:ea typeface="Open Sans 2 Bold"/>
                <a:cs typeface="Open Sans 2 Bold"/>
              </a:rPr>
              <a:t> </a:t>
            </a:r>
          </a:p>
          <a:p>
            <a:pPr algn="ctr">
              <a:lnSpc>
                <a:spcPts val="6668"/>
              </a:lnSpc>
            </a:pPr>
            <a:r>
              <a:rPr lang="en-US" sz="4750" b="1" dirty="0" err="1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Orientadores</a:t>
            </a:r>
            <a:r>
              <a:rPr lang="en-US" sz="4750" b="1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: </a:t>
            </a:r>
            <a:r>
              <a:rPr lang="en-US" sz="475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Aimar, Francisco Escobar, Rodrigo Rosa, Jefferson </a:t>
            </a:r>
            <a:endParaRPr lang="en-US" sz="4750" dirty="0">
              <a:solidFill>
                <a:srgbClr val="000000"/>
              </a:solidFill>
              <a:latin typeface="Open Sans 2"/>
              <a:ea typeface="Open Sans 2"/>
              <a:cs typeface="Open Sans 2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2768028" y="31117441"/>
            <a:ext cx="10186386" cy="61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4762" b="1" spc="17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TECNOLOGIAS UTILIZADAS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6608355" y="9858095"/>
            <a:ext cx="10186386" cy="61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4762" b="1" spc="17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RESULTADOS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4762" b="1" spc="17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 PROBLEMA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758254" y="20302839"/>
            <a:ext cx="10186386" cy="61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4762" b="1" spc="17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 PROPOSTA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5966982" y="31719842"/>
            <a:ext cx="11399871" cy="6852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/>
            <a:r>
              <a:rPr lang="en-US" sz="340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NORMAN, Donald A. </a:t>
            </a:r>
            <a:r>
              <a:rPr lang="en-US" sz="3400" i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O Design do Dia a Dia</a:t>
            </a:r>
            <a:r>
              <a:rPr lang="en-US" sz="340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. São Paulo: Editora Rocco, 2013.</a:t>
            </a:r>
            <a:endParaRPr lang="pt-BR" sz="3400">
              <a:ea typeface="+mn-lt"/>
              <a:cs typeface="+mn-lt"/>
            </a:endParaRPr>
          </a:p>
          <a:p>
            <a:pPr algn="just"/>
            <a:r>
              <a:rPr lang="en-US" sz="3400" dirty="0">
                <a:solidFill>
                  <a:srgbClr val="000000"/>
                </a:solidFill>
                <a:ea typeface="+mn-lt"/>
                <a:cs typeface="+mn-lt"/>
              </a:rPr>
              <a:t>PRESSMAN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, Roger S. </a:t>
            </a:r>
            <a:r>
              <a:rPr lang="en-US" sz="3400" i="1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Engenharia</a:t>
            </a:r>
            <a:r>
              <a:rPr lang="en-US" sz="3400" i="1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de Software: Uma </a:t>
            </a:r>
            <a:r>
              <a:rPr lang="en-US" sz="3400" i="1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Abordagem</a:t>
            </a:r>
            <a:r>
              <a:rPr lang="en-US" sz="3400" i="1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i="1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Profissional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. Porto Alegre: AMGH, 2016.</a:t>
            </a:r>
            <a:endParaRPr lang="en-US" sz="3400" dirty="0">
              <a:ea typeface="+mn-lt"/>
              <a:cs typeface="+mn-lt"/>
              <a:sym typeface="Open Sans 2"/>
            </a:endParaRPr>
          </a:p>
          <a:p>
            <a:pPr algn="just"/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SOMMERVILLE, Ian. </a:t>
            </a:r>
            <a:r>
              <a:rPr lang="en-US" sz="3400" i="1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Engenharia</a:t>
            </a:r>
            <a:r>
              <a:rPr lang="en-US" sz="3400" i="1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de Software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. São Paulo: Pearson, 2019.</a:t>
            </a:r>
            <a:endParaRPr lang="en-US" sz="3400" dirty="0">
              <a:ea typeface="+mn-lt"/>
              <a:cs typeface="+mn-lt"/>
            </a:endParaRPr>
          </a:p>
          <a:p>
            <a:pPr algn="just"/>
            <a:r>
              <a:rPr lang="en-US" sz="3400" dirty="0">
                <a:solidFill>
                  <a:srgbClr val="000000"/>
                </a:solidFill>
                <a:ea typeface="+mn-lt"/>
                <a:cs typeface="+mn-lt"/>
              </a:rPr>
              <a:t>BRASIL.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</a:rPr>
              <a:t>Conselho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</a:rPr>
              <a:t> Federal de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</a:rPr>
              <a:t>Fisioterapia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</a:rPr>
              <a:t> e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</a:rPr>
              <a:t>Terapia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</a:rPr>
              <a:t>Ocupacional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</a:rPr>
              <a:t> (COFFITO).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</a:rPr>
              <a:t>Disponível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</a:rPr>
              <a:t>em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</a:rPr>
              <a:t>: 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hlinkClick r:id="rId6"/>
              </a:rPr>
              <a:t>https://www.coffito.gov.br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</a:rPr>
              <a:t>.</a:t>
            </a:r>
            <a:endParaRPr lang="en-US" dirty="0"/>
          </a:p>
          <a:p>
            <a:pPr algn="just"/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MDN WEB DOCS. </a:t>
            </a:r>
            <a:r>
              <a:rPr lang="en-US" sz="3400" i="1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HTML, CSS e JavaScript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.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Disponível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em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: 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  <a:hlinkClick r:id="rId7"/>
              </a:rPr>
              <a:t>https://developer.mozilla.org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.</a:t>
            </a:r>
            <a:endParaRPr lang="en-US" dirty="0">
              <a:sym typeface="Open Sans 2"/>
            </a:endParaRPr>
          </a:p>
          <a:p>
            <a:pPr algn="just"/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GOOGLE. </a:t>
            </a:r>
            <a:r>
              <a:rPr lang="en-US" sz="3400" i="1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Android Developers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.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Disponível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em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: 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  <a:hlinkClick r:id="rId8"/>
              </a:rPr>
              <a:t>https://developer.android.com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.</a:t>
            </a:r>
            <a:endParaRPr lang="en-US" sz="3400" dirty="0">
              <a:ea typeface="+mn-lt"/>
              <a:cs typeface="+mn-lt"/>
              <a:sym typeface="Open Sans 2"/>
            </a:endParaRPr>
          </a:p>
          <a:p>
            <a:pPr algn="just">
              <a:lnSpc>
                <a:spcPts val="4802"/>
              </a:lnSpc>
            </a:pPr>
            <a:endParaRPr lang="en-US" sz="3400" dirty="0">
              <a:solidFill>
                <a:srgbClr val="000000"/>
              </a:solidFill>
              <a:latin typeface="Open Sans 2"/>
              <a:ea typeface="Open Sans 2"/>
              <a:cs typeface="Open Sans 2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1592568" y="31646725"/>
            <a:ext cx="12562767" cy="7991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/>
            <a:r>
              <a:rPr lang="en-US" sz="32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O </a:t>
            </a:r>
            <a:r>
              <a:rPr lang="en-US" sz="32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projeto</a:t>
            </a:r>
            <a:r>
              <a:rPr lang="en-US" sz="32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2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foi</a:t>
            </a:r>
            <a:r>
              <a:rPr lang="en-US" sz="32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2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estruturado</a:t>
            </a:r>
            <a:r>
              <a:rPr lang="en-US" sz="32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2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em</a:t>
            </a:r>
            <a:r>
              <a:rPr lang="en-US" sz="32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2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diferentes</a:t>
            </a:r>
            <a:r>
              <a:rPr lang="en-US" sz="32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2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frentes</a:t>
            </a:r>
            <a:r>
              <a:rPr lang="en-US" sz="32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para </a:t>
            </a:r>
            <a:r>
              <a:rPr lang="en-US" sz="32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atender</a:t>
            </a:r>
            <a:r>
              <a:rPr lang="en-US" sz="32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2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aos</a:t>
            </a:r>
            <a:r>
              <a:rPr lang="en-US" sz="32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2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perfis</a:t>
            </a:r>
            <a:r>
              <a:rPr lang="en-US" sz="32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32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de </a:t>
            </a:r>
            <a:r>
              <a:rPr lang="en-US" sz="32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cliente</a:t>
            </a:r>
            <a:r>
              <a:rPr lang="en-US" sz="32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, </a:t>
            </a:r>
            <a:r>
              <a:rPr lang="en-US" sz="32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administradora</a:t>
            </a:r>
            <a:r>
              <a:rPr lang="en-US" sz="32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e equipe de </a:t>
            </a:r>
            <a:r>
              <a:rPr lang="en-US" sz="32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desenvolvimento</a:t>
            </a:r>
            <a:r>
              <a:rPr lang="en-US" sz="32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, </a:t>
            </a:r>
            <a:r>
              <a:rPr lang="en-US" sz="32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utilizando</a:t>
            </a:r>
            <a:r>
              <a:rPr lang="en-US" sz="32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as </a:t>
            </a:r>
            <a:r>
              <a:rPr lang="en-US" sz="32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seguintes</a:t>
            </a:r>
            <a:r>
              <a:rPr lang="en-US" sz="32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2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tecnologias</a:t>
            </a:r>
            <a:r>
              <a:rPr lang="en-US" sz="32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:</a:t>
            </a:r>
            <a:endParaRPr lang="pt-BR" sz="3200"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Lado do </a:t>
            </a:r>
            <a:r>
              <a:rPr lang="en-US" sz="32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Cliente</a:t>
            </a:r>
            <a:r>
              <a:rPr lang="en-US" sz="32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(Mobile): </a:t>
            </a:r>
            <a:r>
              <a:rPr lang="en-US" sz="32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Desenvolvimento</a:t>
            </a:r>
            <a:r>
              <a:rPr lang="en-US" sz="32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do </a:t>
            </a:r>
            <a:r>
              <a:rPr lang="en-US" sz="32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aplicativo</a:t>
            </a:r>
            <a:r>
              <a:rPr lang="en-US" sz="32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para </a:t>
            </a:r>
            <a:r>
              <a:rPr lang="en-US" sz="32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pacientes</a:t>
            </a:r>
            <a:r>
              <a:rPr lang="en-US" sz="32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2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utilizando</a:t>
            </a:r>
            <a:r>
              <a:rPr lang="en-US" sz="32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o Android Studio, </a:t>
            </a:r>
            <a:r>
              <a:rPr lang="en-US" sz="32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garantindo</a:t>
            </a:r>
            <a:r>
              <a:rPr lang="en-US" sz="32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2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uma</a:t>
            </a:r>
            <a:r>
              <a:rPr lang="en-US" sz="32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interface </a:t>
            </a:r>
            <a:r>
              <a:rPr lang="en-US" sz="32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otimizada</a:t>
            </a:r>
            <a:r>
              <a:rPr lang="en-US" sz="32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e </a:t>
            </a:r>
            <a:r>
              <a:rPr lang="en-US" sz="32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acessível</a:t>
            </a:r>
            <a:r>
              <a:rPr lang="en-US" sz="32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.</a:t>
            </a:r>
            <a:endParaRPr lang="en-US" sz="3200"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ea typeface="+mn-lt"/>
                <a:cs typeface="+mn-lt"/>
              </a:rPr>
              <a:t>Lado da Administradora (Web): Interface </a:t>
            </a:r>
            <a:r>
              <a:rPr lang="en-US" sz="3200" dirty="0" err="1">
                <a:solidFill>
                  <a:srgbClr val="000000"/>
                </a:solidFill>
                <a:ea typeface="+mn-lt"/>
                <a:cs typeface="+mn-lt"/>
              </a:rPr>
              <a:t>criada</a:t>
            </a:r>
            <a:r>
              <a:rPr lang="en-US" sz="3200" dirty="0">
                <a:solidFill>
                  <a:srgbClr val="000000"/>
                </a:solidFill>
                <a:ea typeface="+mn-lt"/>
                <a:cs typeface="+mn-lt"/>
              </a:rPr>
              <a:t> com HTML, CSS e JavaScript para o </a:t>
            </a:r>
            <a:r>
              <a:rPr lang="en-US" sz="3200" dirty="0" err="1">
                <a:solidFill>
                  <a:srgbClr val="000000"/>
                </a:solidFill>
                <a:ea typeface="+mn-lt"/>
                <a:cs typeface="+mn-lt"/>
              </a:rPr>
              <a:t>gerenciamento</a:t>
            </a:r>
            <a:r>
              <a:rPr lang="en-US" sz="3200" dirty="0">
                <a:solidFill>
                  <a:srgbClr val="000000"/>
                </a:solidFill>
                <a:ea typeface="+mn-lt"/>
                <a:cs typeface="+mn-lt"/>
              </a:rPr>
              <a:t> de agendas, </a:t>
            </a:r>
            <a:r>
              <a:rPr lang="en-US" sz="3200" dirty="0" err="1">
                <a:solidFill>
                  <a:srgbClr val="000000"/>
                </a:solidFill>
                <a:ea typeface="+mn-lt"/>
                <a:cs typeface="+mn-lt"/>
              </a:rPr>
              <a:t>pacientes</a:t>
            </a:r>
            <a:r>
              <a:rPr lang="en-US" sz="3200" dirty="0">
                <a:solidFill>
                  <a:srgbClr val="000000"/>
                </a:solidFill>
                <a:ea typeface="+mn-lt"/>
                <a:cs typeface="+mn-lt"/>
              </a:rPr>
              <a:t>, </a:t>
            </a:r>
            <a:r>
              <a:rPr lang="en-US" sz="3200" dirty="0" err="1">
                <a:solidFill>
                  <a:srgbClr val="000000"/>
                </a:solidFill>
                <a:ea typeface="+mn-lt"/>
                <a:cs typeface="+mn-lt"/>
              </a:rPr>
              <a:t>fichas</a:t>
            </a:r>
            <a:r>
              <a:rPr lang="en-US" sz="32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3200" dirty="0" err="1">
                <a:solidFill>
                  <a:srgbClr val="000000"/>
                </a:solidFill>
                <a:ea typeface="+mn-lt"/>
                <a:cs typeface="+mn-lt"/>
              </a:rPr>
              <a:t>clínicas</a:t>
            </a:r>
            <a:r>
              <a:rPr lang="en-US" sz="3200" dirty="0">
                <a:solidFill>
                  <a:srgbClr val="000000"/>
                </a:solidFill>
                <a:ea typeface="+mn-lt"/>
                <a:cs typeface="+mn-lt"/>
              </a:rPr>
              <a:t> e </a:t>
            </a:r>
            <a:r>
              <a:rPr lang="en-US" sz="3200" dirty="0" err="1">
                <a:solidFill>
                  <a:srgbClr val="000000"/>
                </a:solidFill>
                <a:ea typeface="+mn-lt"/>
                <a:cs typeface="+mn-lt"/>
              </a:rPr>
              <a:t>exercícios</a:t>
            </a:r>
            <a:r>
              <a:rPr lang="en-US" sz="3200" dirty="0">
                <a:solidFill>
                  <a:srgbClr val="000000"/>
                </a:solidFill>
                <a:ea typeface="+mn-lt"/>
                <a:cs typeface="+mn-lt"/>
              </a:rPr>
              <a:t> (Maya).</a:t>
            </a:r>
            <a:endParaRPr lang="en-US" sz="3200"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Equipe de </a:t>
            </a:r>
            <a:r>
              <a:rPr lang="en-US" sz="32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Desenvolvimento</a:t>
            </a:r>
            <a:r>
              <a:rPr lang="en-US" sz="32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: </a:t>
            </a:r>
            <a:endParaRPr lang="en-US" sz="32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1187450" lvl="1" indent="-285750" algn="just"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200" i="1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Mobile:</a:t>
            </a:r>
            <a:r>
              <a:rPr lang="en-US" sz="32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Android Studio</a:t>
            </a:r>
            <a:endParaRPr lang="en-US" sz="3200">
              <a:ea typeface="+mn-lt"/>
              <a:cs typeface="+mn-lt"/>
            </a:endParaRPr>
          </a:p>
          <a:p>
            <a:pPr marL="1187450" lvl="1" indent="-285750" algn="just">
              <a:buFont typeface="Arial"/>
              <a:buChar char="•"/>
            </a:pPr>
            <a:r>
              <a:rPr lang="en-US" sz="3200" i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Web:</a:t>
            </a:r>
            <a:r>
              <a:rPr lang="en-US" sz="320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Visual Studio Code</a:t>
            </a:r>
            <a:endParaRPr lang="en-US" sz="3200">
              <a:ea typeface="+mn-lt"/>
              <a:cs typeface="+mn-lt"/>
            </a:endParaRPr>
          </a:p>
          <a:p>
            <a:pPr marL="1187450" lvl="1" indent="-285750" algn="just">
              <a:buFont typeface="Arial"/>
              <a:buChar char="•"/>
            </a:pPr>
            <a:r>
              <a:rPr lang="en-US" sz="3200" i="1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Versionamento</a:t>
            </a:r>
            <a:r>
              <a:rPr lang="en-US" sz="3200" i="1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:</a:t>
            </a:r>
            <a:r>
              <a:rPr lang="en-US" sz="32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GitHub</a:t>
            </a:r>
            <a:endParaRPr lang="en-US" sz="3200">
              <a:ea typeface="+mn-lt"/>
              <a:cs typeface="+mn-lt"/>
            </a:endParaRPr>
          </a:p>
          <a:p>
            <a:pPr marL="1187450" lvl="1" indent="-285750" algn="just">
              <a:buFont typeface="Arial"/>
              <a:buChar char="•"/>
            </a:pPr>
            <a:r>
              <a:rPr lang="en-US" sz="3200" i="1" dirty="0">
                <a:solidFill>
                  <a:srgbClr val="000000"/>
                </a:solidFill>
                <a:ea typeface="+mn-lt"/>
                <a:cs typeface="+mn-lt"/>
              </a:rPr>
              <a:t>Design e </a:t>
            </a:r>
            <a:r>
              <a:rPr lang="en-US" sz="3200" i="1" dirty="0" err="1">
                <a:solidFill>
                  <a:srgbClr val="000000"/>
                </a:solidFill>
                <a:ea typeface="+mn-lt"/>
                <a:cs typeface="+mn-lt"/>
              </a:rPr>
              <a:t>Prototipação</a:t>
            </a:r>
            <a:r>
              <a:rPr lang="en-US" sz="3200" i="1" dirty="0">
                <a:solidFill>
                  <a:srgbClr val="000000"/>
                </a:solidFill>
                <a:ea typeface="+mn-lt"/>
                <a:cs typeface="+mn-lt"/>
              </a:rPr>
              <a:t>:</a:t>
            </a:r>
            <a:r>
              <a:rPr lang="en-US" sz="3200" dirty="0">
                <a:solidFill>
                  <a:srgbClr val="000000"/>
                </a:solidFill>
                <a:ea typeface="+mn-lt"/>
                <a:cs typeface="+mn-lt"/>
              </a:rPr>
              <a:t> Figma</a:t>
            </a:r>
            <a:endParaRPr lang="en-US" sz="3200" dirty="0">
              <a:ea typeface="+mn-lt"/>
              <a:cs typeface="+mn-lt"/>
            </a:endParaRPr>
          </a:p>
          <a:p>
            <a:pPr algn="just"/>
            <a:endParaRPr lang="en-US" sz="3400" dirty="0">
              <a:ea typeface="+mn-lt"/>
              <a:cs typeface="+mn-lt"/>
            </a:endParaRPr>
          </a:p>
          <a:p>
            <a:pPr algn="just">
              <a:lnSpc>
                <a:spcPts val="4802"/>
              </a:lnSpc>
            </a:pPr>
            <a:endParaRPr lang="en-US" sz="3400" dirty="0">
              <a:solidFill>
                <a:srgbClr val="000000"/>
              </a:solidFill>
              <a:latin typeface="Open Sans 2"/>
              <a:ea typeface="Open Sans 2"/>
              <a:cs typeface="Open Sans 2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1595870" y="10749184"/>
            <a:ext cx="12562767" cy="9192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/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A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demanda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apresentada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consistiu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no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desenvolvimento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de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uma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solução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digital para a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profissional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de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fisioterapia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Maya,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em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parceria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com a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instituição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FECAP, com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foco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na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melhoria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do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atendimento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e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acompanhamento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de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pacientes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de RPG (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Reeducação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Postural Global).</a:t>
            </a:r>
            <a:endParaRPr lang="pt-BR" dirty="0">
              <a:sym typeface="Open Sans 2"/>
            </a:endParaRPr>
          </a:p>
          <a:p>
            <a:pPr algn="just"/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Atualmente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, a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gestão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de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atendimentos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fisioterapêuticos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enfrenta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desafios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como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:</a:t>
            </a:r>
            <a:endParaRPr lang="en-US" dirty="0">
              <a:sym typeface="Open Sans 2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Dificuldade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no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agendamento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e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organização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de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consultas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endParaRPr lang="en-US" dirty="0"/>
          </a:p>
          <a:p>
            <a:pPr marL="285750" indent="-285750" algn="just">
              <a:buFont typeface="Arial"/>
              <a:buChar char="•"/>
            </a:pP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Falta de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acompanhamento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contínuo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dos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exercícios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realizados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pelos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pacientes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em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casa </a:t>
            </a:r>
            <a:endParaRPr lang="en-US" dirty="0"/>
          </a:p>
          <a:p>
            <a:pPr marL="285750" indent="-285750" algn="just">
              <a:buFont typeface="Arial"/>
              <a:buChar char="•"/>
            </a:pP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Baixa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adesão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dos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pacientes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ao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tratamento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fora do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ambiente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clínico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endParaRPr lang="en-US" dirty="0"/>
          </a:p>
          <a:p>
            <a:pPr marL="285750" indent="-285750" algn="just">
              <a:buFont typeface="Arial"/>
              <a:buChar char="•"/>
            </a:pP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</a:rPr>
              <a:t>Ausência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</a:rPr>
              <a:t> de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</a:rPr>
              <a:t>uma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plataforma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centralizada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para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registro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de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informações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clínicas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endParaRPr lang="en-US" dirty="0"/>
          </a:p>
          <a:p>
            <a:pPr algn="just"/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Além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disso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, a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profissional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necessita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de ferramentas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administrativas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eficientes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para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gerenciar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sua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rotina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,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acompanhar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a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evolução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dos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pacientes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e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tomar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decisões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com base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em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dados.</a:t>
            </a:r>
            <a:endParaRPr lang="en-US" sz="3400" dirty="0">
              <a:ea typeface="+mn-lt"/>
              <a:cs typeface="+mn-lt"/>
              <a:sym typeface="Open Sans 2"/>
            </a:endParaRPr>
          </a:p>
          <a:p>
            <a:pPr algn="just">
              <a:lnSpc>
                <a:spcPts val="4802"/>
              </a:lnSpc>
            </a:pPr>
            <a:endParaRPr lang="en-US" sz="3400" dirty="0">
              <a:solidFill>
                <a:srgbClr val="000000"/>
              </a:solidFill>
              <a:latin typeface="Open Sans 2"/>
              <a:ea typeface="Open Sans 2"/>
              <a:cs typeface="Open Sans 2"/>
            </a:endParaRPr>
          </a:p>
          <a:p>
            <a:pPr algn="just">
              <a:lnSpc>
                <a:spcPts val="4802"/>
              </a:lnSpc>
            </a:pPr>
            <a:endParaRPr lang="en-US" sz="343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1570066" y="21125709"/>
            <a:ext cx="12562767" cy="1008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/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Diante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desse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cenário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,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foi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proposta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a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criação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de um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aplicativo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mobile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voltado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para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fisioterapia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RPG,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atendendo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tanto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os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pacientes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quanto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a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administradora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(Maya).</a:t>
            </a:r>
            <a:endParaRPr lang="pt-BR" dirty="0">
              <a:sym typeface="Open Sans 2"/>
            </a:endParaRPr>
          </a:p>
          <a:p>
            <a:pPr algn="just"/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 Para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os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pacientes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, o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aplicativo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permite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:</a:t>
            </a:r>
            <a:endParaRPr lang="en-US" dirty="0">
              <a:sym typeface="Open Sans 2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Agendamento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de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consultas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de forma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prática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endParaRPr lang="en-US" dirty="0"/>
          </a:p>
          <a:p>
            <a:pPr marL="285750" indent="-285750" algn="just">
              <a:buFont typeface="Arial"/>
              <a:buChar char="•"/>
            </a:pP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</a:rPr>
              <a:t>Acesso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</a:rPr>
              <a:t>aos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</a:rPr>
              <a:t>exercícios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</a:rPr>
              <a:t>personalizados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</a:rPr>
              <a:t>prescritos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</a:rPr>
              <a:t> pela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</a:rPr>
              <a:t>fisioterapeuta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endParaRPr lang="en-US" dirty="0"/>
          </a:p>
          <a:p>
            <a:pPr marL="285750" indent="-285750" algn="just">
              <a:buFont typeface="Arial"/>
              <a:buChar char="•"/>
            </a:pP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Acompanhamento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da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evolução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no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tratamento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endParaRPr lang="en-US" dirty="0"/>
          </a:p>
          <a:p>
            <a:pPr marL="285750" indent="-285750" algn="just">
              <a:buFont typeface="Arial"/>
              <a:buChar char="•"/>
            </a:pP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</a:rPr>
              <a:t>Conteúdos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</a:rPr>
              <a:t>educativos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</a:rPr>
              <a:t>sobre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</a:rPr>
              <a:t>fisioterapia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</a:rPr>
              <a:t> RPG </a:t>
            </a:r>
            <a:endParaRPr lang="en-US" dirty="0"/>
          </a:p>
          <a:p>
            <a:pPr algn="just"/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 Para a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administradora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, o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sistema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oferece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:</a:t>
            </a:r>
            <a:endParaRPr lang="en-US" dirty="0">
              <a:sym typeface="Open Sans 2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Gerenciamento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completo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da agenda </a:t>
            </a:r>
            <a:endParaRPr lang="en-US" dirty="0">
              <a:sym typeface="Open Sans 2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Cadastro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e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acompanhamento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de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pacientes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endParaRPr lang="en-US" dirty="0">
              <a:sym typeface="Open Sans 2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Registro de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fichas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clínicas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endParaRPr lang="en-US" dirty="0">
              <a:sym typeface="Open Sans 2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Criação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e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envio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de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exercícios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personalizados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endParaRPr lang="en-US" dirty="0">
              <a:sym typeface="Open Sans 2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Visualização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de dashboards com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indicadores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de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desempenho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endParaRPr lang="en-US" dirty="0">
              <a:sym typeface="Open Sans 2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Alertas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sobre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o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progresso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e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possíveis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riscos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dos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pacientes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endParaRPr lang="en-US" dirty="0">
              <a:sym typeface="Open Sans 2"/>
            </a:endParaRPr>
          </a:p>
          <a:p>
            <a:pPr algn="just"/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 A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solução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busca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integrar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tecnologia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e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saúde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,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promovendo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maior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eficiência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no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atendimento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e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melhor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engajamento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dos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pacientes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.</a:t>
            </a:r>
            <a:endParaRPr lang="en-US" sz="3400" dirty="0">
              <a:ea typeface="+mn-lt"/>
              <a:cs typeface="+mn-lt"/>
              <a:sym typeface="Open Sans 2"/>
            </a:endParaRPr>
          </a:p>
          <a:p>
            <a:pPr algn="just">
              <a:lnSpc>
                <a:spcPts val="4802"/>
              </a:lnSpc>
            </a:pPr>
            <a:endParaRPr lang="en-US" sz="3400" dirty="0">
              <a:solidFill>
                <a:srgbClr val="000000"/>
              </a:solidFill>
              <a:latin typeface="Open Sans 2"/>
              <a:ea typeface="Open Sans 2"/>
              <a:cs typeface="Open Sans 2"/>
            </a:endParaRPr>
          </a:p>
          <a:p>
            <a:pPr algn="just">
              <a:lnSpc>
                <a:spcPts val="4802"/>
              </a:lnSpc>
            </a:pPr>
            <a:endParaRPr lang="en-US" sz="343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136933" y="39681833"/>
            <a:ext cx="28242690" cy="1712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7"/>
              </a:lnSpc>
            </a:pPr>
            <a:r>
              <a:rPr lang="en-US" sz="4955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SEMANA DE TECNOLOGIA - 2026</a:t>
            </a:r>
          </a:p>
          <a:p>
            <a:pPr algn="ctr">
              <a:lnSpc>
                <a:spcPts val="6937"/>
              </a:lnSpc>
              <a:spcBef>
                <a:spcPct val="0"/>
              </a:spcBef>
            </a:pPr>
            <a:r>
              <a:rPr lang="en-US" sz="4955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Fundação Escola de Comércio Álvares Penteado - FECAP</a:t>
            </a:r>
          </a:p>
        </p:txBody>
      </p:sp>
      <p:sp>
        <p:nvSpPr>
          <p:cNvPr id="46" name="TextBox 57">
            <a:extLst>
              <a:ext uri="{FF2B5EF4-FFF2-40B4-BE49-F238E27FC236}">
                <a16:creationId xmlns:a16="http://schemas.microsoft.com/office/drawing/2014/main" id="{897A023C-901F-163D-C43B-8EE4BEBD3572}"/>
              </a:ext>
            </a:extLst>
          </p:cNvPr>
          <p:cNvSpPr txBox="1"/>
          <p:nvPr/>
        </p:nvSpPr>
        <p:spPr>
          <a:xfrm>
            <a:off x="15677905" y="10820253"/>
            <a:ext cx="12024914" cy="188359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O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projeto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Maya RPG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resultou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no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desenvolvimento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de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uma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solução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digital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integrada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,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composta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por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um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aplicativo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mobile para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pacientes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e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uma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interface web para a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administradora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. A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plataforma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permite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o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gerenciamento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de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consultas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,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acompanhamento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de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exercícios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e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organização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de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informações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clínicas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,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proporcionando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mais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eficiência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no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atendimento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e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maior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engajamento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dos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pacientes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no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tratamento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de </a:t>
            </a:r>
            <a:r>
              <a:rPr lang="en-US" sz="3400" dirty="0" err="1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fisioterapia</a:t>
            </a:r>
            <a:r>
              <a:rPr lang="en-US" sz="3400" dirty="0">
                <a:solidFill>
                  <a:srgbClr val="000000"/>
                </a:solidFill>
                <a:ea typeface="+mn-lt"/>
                <a:cs typeface="+mn-lt"/>
                <a:sym typeface="Open Sans 2"/>
              </a:rPr>
              <a:t> RPG.</a:t>
            </a:r>
            <a:endParaRPr lang="pt-BR" dirty="0">
              <a:ea typeface="+mn-lt"/>
              <a:cs typeface="+mn-lt"/>
            </a:endParaRPr>
          </a:p>
          <a:p>
            <a:pPr algn="just"/>
            <a:r>
              <a:rPr lang="en-US" sz="3400" dirty="0">
                <a:ea typeface="+mn-lt"/>
                <a:cs typeface="+mn-lt"/>
              </a:rPr>
              <a:t>Durante o </a:t>
            </a:r>
            <a:r>
              <a:rPr lang="en-US" sz="3400" dirty="0" err="1">
                <a:ea typeface="+mn-lt"/>
                <a:cs typeface="+mn-lt"/>
              </a:rPr>
              <a:t>desenvolvimento</a:t>
            </a:r>
            <a:r>
              <a:rPr lang="en-US" sz="3400" dirty="0">
                <a:ea typeface="+mn-lt"/>
                <a:cs typeface="+mn-lt"/>
              </a:rPr>
              <a:t>, </a:t>
            </a:r>
            <a:r>
              <a:rPr lang="en-US" sz="3400" dirty="0" err="1">
                <a:ea typeface="+mn-lt"/>
                <a:cs typeface="+mn-lt"/>
              </a:rPr>
              <a:t>foram</a:t>
            </a:r>
            <a:r>
              <a:rPr lang="en-US" sz="3400" dirty="0">
                <a:ea typeface="+mn-lt"/>
                <a:cs typeface="+mn-lt"/>
              </a:rPr>
              <a:t> </a:t>
            </a:r>
            <a:r>
              <a:rPr lang="en-US" sz="3400" dirty="0" err="1">
                <a:ea typeface="+mn-lt"/>
                <a:cs typeface="+mn-lt"/>
              </a:rPr>
              <a:t>considerados</a:t>
            </a:r>
            <a:r>
              <a:rPr lang="en-US" sz="3400" dirty="0">
                <a:ea typeface="+mn-lt"/>
                <a:cs typeface="+mn-lt"/>
              </a:rPr>
              <a:t> </a:t>
            </a:r>
            <a:r>
              <a:rPr lang="en-US" sz="3400" dirty="0" err="1">
                <a:ea typeface="+mn-lt"/>
                <a:cs typeface="+mn-lt"/>
              </a:rPr>
              <a:t>desafios</a:t>
            </a:r>
            <a:r>
              <a:rPr lang="en-US" sz="3400" dirty="0">
                <a:ea typeface="+mn-lt"/>
                <a:cs typeface="+mn-lt"/>
              </a:rPr>
              <a:t> </a:t>
            </a:r>
            <a:r>
              <a:rPr lang="en-US" sz="3400" dirty="0" err="1">
                <a:ea typeface="+mn-lt"/>
                <a:cs typeface="+mn-lt"/>
              </a:rPr>
              <a:t>apresentados</a:t>
            </a:r>
            <a:r>
              <a:rPr lang="en-US" sz="3400" dirty="0">
                <a:ea typeface="+mn-lt"/>
                <a:cs typeface="+mn-lt"/>
              </a:rPr>
              <a:t> pela </a:t>
            </a:r>
            <a:r>
              <a:rPr lang="en-US" sz="3400" dirty="0" err="1">
                <a:ea typeface="+mn-lt"/>
                <a:cs typeface="+mn-lt"/>
              </a:rPr>
              <a:t>fisioterapeuta</a:t>
            </a:r>
            <a:r>
              <a:rPr lang="en-US" sz="3400" dirty="0">
                <a:ea typeface="+mn-lt"/>
                <a:cs typeface="+mn-lt"/>
              </a:rPr>
              <a:t> Maya, </a:t>
            </a:r>
            <a:r>
              <a:rPr lang="en-US" sz="3400" dirty="0" err="1">
                <a:ea typeface="+mn-lt"/>
                <a:cs typeface="+mn-lt"/>
              </a:rPr>
              <a:t>como</a:t>
            </a:r>
            <a:r>
              <a:rPr lang="en-US" sz="3400" dirty="0">
                <a:ea typeface="+mn-lt"/>
                <a:cs typeface="+mn-lt"/>
              </a:rPr>
              <a:t> a </a:t>
            </a:r>
            <a:r>
              <a:rPr lang="en-US" sz="3400" dirty="0" err="1">
                <a:ea typeface="+mn-lt"/>
                <a:cs typeface="+mn-lt"/>
              </a:rPr>
              <a:t>dificuldade</a:t>
            </a:r>
            <a:r>
              <a:rPr lang="en-US" sz="3400" dirty="0">
                <a:ea typeface="+mn-lt"/>
                <a:cs typeface="+mn-lt"/>
              </a:rPr>
              <a:t> </a:t>
            </a:r>
            <a:r>
              <a:rPr lang="en-US" sz="3400" dirty="0" err="1">
                <a:ea typeface="+mn-lt"/>
                <a:cs typeface="+mn-lt"/>
              </a:rPr>
              <a:t>na</a:t>
            </a:r>
            <a:r>
              <a:rPr lang="en-US" sz="3400" dirty="0">
                <a:ea typeface="+mn-lt"/>
                <a:cs typeface="+mn-lt"/>
              </a:rPr>
              <a:t> </a:t>
            </a:r>
            <a:r>
              <a:rPr lang="en-US" sz="3400" dirty="0" err="1">
                <a:ea typeface="+mn-lt"/>
                <a:cs typeface="+mn-lt"/>
              </a:rPr>
              <a:t>gestão</a:t>
            </a:r>
            <a:r>
              <a:rPr lang="en-US" sz="3400" dirty="0">
                <a:ea typeface="+mn-lt"/>
                <a:cs typeface="+mn-lt"/>
              </a:rPr>
              <a:t> de agenda, o </a:t>
            </a:r>
            <a:r>
              <a:rPr lang="en-US" sz="3400" dirty="0" err="1">
                <a:ea typeface="+mn-lt"/>
                <a:cs typeface="+mn-lt"/>
              </a:rPr>
              <a:t>controle</a:t>
            </a:r>
            <a:r>
              <a:rPr lang="en-US" sz="3400" dirty="0">
                <a:ea typeface="+mn-lt"/>
                <a:cs typeface="+mn-lt"/>
              </a:rPr>
              <a:t> dos </a:t>
            </a:r>
            <a:r>
              <a:rPr lang="en-US" sz="3400" dirty="0" err="1">
                <a:ea typeface="+mn-lt"/>
                <a:cs typeface="+mn-lt"/>
              </a:rPr>
              <a:t>atendimentos</a:t>
            </a:r>
            <a:r>
              <a:rPr lang="en-US" sz="3400" dirty="0">
                <a:ea typeface="+mn-lt"/>
                <a:cs typeface="+mn-lt"/>
              </a:rPr>
              <a:t> e a </a:t>
            </a:r>
            <a:r>
              <a:rPr lang="en-US" sz="3400" dirty="0" err="1">
                <a:ea typeface="+mn-lt"/>
                <a:cs typeface="+mn-lt"/>
              </a:rPr>
              <a:t>ausência</a:t>
            </a:r>
            <a:r>
              <a:rPr lang="en-US" sz="3400" dirty="0">
                <a:ea typeface="+mn-lt"/>
                <a:cs typeface="+mn-lt"/>
              </a:rPr>
              <a:t> de um </a:t>
            </a:r>
            <a:r>
              <a:rPr lang="en-US" sz="3400" dirty="0" err="1">
                <a:ea typeface="+mn-lt"/>
                <a:cs typeface="+mn-lt"/>
              </a:rPr>
              <a:t>acompanhamento</a:t>
            </a:r>
            <a:r>
              <a:rPr lang="en-US" sz="3400" dirty="0">
                <a:ea typeface="+mn-lt"/>
                <a:cs typeface="+mn-lt"/>
              </a:rPr>
              <a:t> </a:t>
            </a:r>
            <a:r>
              <a:rPr lang="en-US" sz="3400" dirty="0" err="1">
                <a:ea typeface="+mn-lt"/>
                <a:cs typeface="+mn-lt"/>
              </a:rPr>
              <a:t>estruturado</a:t>
            </a:r>
            <a:r>
              <a:rPr lang="en-US" sz="3400" dirty="0">
                <a:ea typeface="+mn-lt"/>
                <a:cs typeface="+mn-lt"/>
              </a:rPr>
              <a:t> da </a:t>
            </a:r>
            <a:r>
              <a:rPr lang="en-US" sz="3400" dirty="0" err="1">
                <a:ea typeface="+mn-lt"/>
                <a:cs typeface="+mn-lt"/>
              </a:rPr>
              <a:t>evolução</a:t>
            </a:r>
            <a:r>
              <a:rPr lang="en-US" sz="3400" dirty="0">
                <a:ea typeface="+mn-lt"/>
                <a:cs typeface="+mn-lt"/>
              </a:rPr>
              <a:t> dos </a:t>
            </a:r>
            <a:r>
              <a:rPr lang="en-US" sz="3400" dirty="0" err="1">
                <a:ea typeface="+mn-lt"/>
                <a:cs typeface="+mn-lt"/>
              </a:rPr>
              <a:t>pacientes</a:t>
            </a:r>
            <a:r>
              <a:rPr lang="en-US" sz="3400" dirty="0">
                <a:ea typeface="+mn-lt"/>
                <a:cs typeface="+mn-lt"/>
              </a:rPr>
              <a:t>. </a:t>
            </a:r>
            <a:r>
              <a:rPr lang="en-US" sz="3400" dirty="0" err="1">
                <a:ea typeface="+mn-lt"/>
                <a:cs typeface="+mn-lt"/>
              </a:rPr>
              <a:t>Além</a:t>
            </a:r>
            <a:r>
              <a:rPr lang="en-US" sz="3400" dirty="0">
                <a:ea typeface="+mn-lt"/>
                <a:cs typeface="+mn-lt"/>
              </a:rPr>
              <a:t> </a:t>
            </a:r>
            <a:r>
              <a:rPr lang="en-US" sz="3400" dirty="0" err="1">
                <a:ea typeface="+mn-lt"/>
                <a:cs typeface="+mn-lt"/>
              </a:rPr>
              <a:t>disso</a:t>
            </a:r>
            <a:r>
              <a:rPr lang="en-US" sz="3400" dirty="0">
                <a:ea typeface="+mn-lt"/>
                <a:cs typeface="+mn-lt"/>
              </a:rPr>
              <a:t>, </a:t>
            </a:r>
            <a:r>
              <a:rPr lang="en-US" sz="3400" dirty="0" err="1">
                <a:ea typeface="+mn-lt"/>
                <a:cs typeface="+mn-lt"/>
              </a:rPr>
              <a:t>destacava</a:t>
            </a:r>
            <a:r>
              <a:rPr lang="en-US" sz="3400" dirty="0">
                <a:ea typeface="+mn-lt"/>
                <a:cs typeface="+mn-lt"/>
              </a:rPr>
              <a:t>-se a </a:t>
            </a:r>
            <a:r>
              <a:rPr lang="en-US" sz="3400" dirty="0" err="1">
                <a:ea typeface="+mn-lt"/>
                <a:cs typeface="+mn-lt"/>
              </a:rPr>
              <a:t>realização</a:t>
            </a:r>
            <a:r>
              <a:rPr lang="en-US" sz="3400" dirty="0">
                <a:ea typeface="+mn-lt"/>
                <a:cs typeface="+mn-lt"/>
              </a:rPr>
              <a:t> manual de </a:t>
            </a:r>
            <a:r>
              <a:rPr lang="en-US" sz="3400" dirty="0" err="1">
                <a:ea typeface="+mn-lt"/>
                <a:cs typeface="+mn-lt"/>
              </a:rPr>
              <a:t>tarefas</a:t>
            </a:r>
            <a:r>
              <a:rPr lang="en-US" sz="3400" dirty="0">
                <a:ea typeface="+mn-lt"/>
                <a:cs typeface="+mn-lt"/>
              </a:rPr>
              <a:t> </a:t>
            </a:r>
            <a:r>
              <a:rPr lang="en-US" sz="3400" dirty="0" err="1">
                <a:ea typeface="+mn-lt"/>
                <a:cs typeface="+mn-lt"/>
              </a:rPr>
              <a:t>administrativas</a:t>
            </a:r>
            <a:r>
              <a:rPr lang="en-US" sz="3400" dirty="0">
                <a:ea typeface="+mn-lt"/>
                <a:cs typeface="+mn-lt"/>
              </a:rPr>
              <a:t>, </a:t>
            </a:r>
            <a:r>
              <a:rPr lang="en-US" sz="3400" dirty="0" err="1">
                <a:ea typeface="+mn-lt"/>
                <a:cs typeface="+mn-lt"/>
              </a:rPr>
              <a:t>como</a:t>
            </a:r>
            <a:r>
              <a:rPr lang="en-US" sz="3400" dirty="0">
                <a:ea typeface="+mn-lt"/>
                <a:cs typeface="+mn-lt"/>
              </a:rPr>
              <a:t> </a:t>
            </a:r>
            <a:r>
              <a:rPr lang="en-US" sz="3400" dirty="0" err="1">
                <a:ea typeface="+mn-lt"/>
                <a:cs typeface="+mn-lt"/>
              </a:rPr>
              <a:t>relatórios</a:t>
            </a:r>
            <a:r>
              <a:rPr lang="en-US" sz="3400" dirty="0">
                <a:ea typeface="+mn-lt"/>
                <a:cs typeface="+mn-lt"/>
              </a:rPr>
              <a:t>, </a:t>
            </a:r>
            <a:r>
              <a:rPr lang="en-US" sz="3400" dirty="0" err="1">
                <a:ea typeface="+mn-lt"/>
                <a:cs typeface="+mn-lt"/>
              </a:rPr>
              <a:t>prontuários</a:t>
            </a:r>
            <a:r>
              <a:rPr lang="en-US" sz="3400" dirty="0">
                <a:ea typeface="+mn-lt"/>
                <a:cs typeface="+mn-lt"/>
              </a:rPr>
              <a:t> e </a:t>
            </a:r>
            <a:r>
              <a:rPr lang="en-US" sz="3400" dirty="0" err="1">
                <a:ea typeface="+mn-lt"/>
                <a:cs typeface="+mn-lt"/>
              </a:rPr>
              <a:t>organização</a:t>
            </a:r>
            <a:r>
              <a:rPr lang="en-US" sz="3400" dirty="0">
                <a:ea typeface="+mn-lt"/>
                <a:cs typeface="+mn-lt"/>
              </a:rPr>
              <a:t> de </a:t>
            </a:r>
            <a:r>
              <a:rPr lang="en-US" sz="3400" dirty="0" err="1">
                <a:ea typeface="+mn-lt"/>
                <a:cs typeface="+mn-lt"/>
              </a:rPr>
              <a:t>informações</a:t>
            </a:r>
            <a:r>
              <a:rPr lang="en-US" sz="3400" dirty="0">
                <a:ea typeface="+mn-lt"/>
                <a:cs typeface="+mn-lt"/>
              </a:rPr>
              <a:t>.</a:t>
            </a:r>
            <a:endParaRPr lang="en-US" dirty="0"/>
          </a:p>
          <a:p>
            <a:pPr algn="just"/>
            <a:r>
              <a:rPr lang="en-US" sz="3400" dirty="0">
                <a:ea typeface="+mn-lt"/>
                <a:cs typeface="+mn-lt"/>
              </a:rPr>
              <a:t>Com a </a:t>
            </a:r>
            <a:r>
              <a:rPr lang="en-US" sz="3400" dirty="0" err="1">
                <a:ea typeface="+mn-lt"/>
                <a:cs typeface="+mn-lt"/>
              </a:rPr>
              <a:t>implementação</a:t>
            </a:r>
            <a:r>
              <a:rPr lang="en-US" sz="3400" dirty="0">
                <a:ea typeface="+mn-lt"/>
                <a:cs typeface="+mn-lt"/>
              </a:rPr>
              <a:t> do </a:t>
            </a:r>
            <a:r>
              <a:rPr lang="en-US" sz="3400" dirty="0" err="1">
                <a:ea typeface="+mn-lt"/>
                <a:cs typeface="+mn-lt"/>
              </a:rPr>
              <a:t>sistema</a:t>
            </a:r>
            <a:r>
              <a:rPr lang="en-US" sz="3400" dirty="0">
                <a:ea typeface="+mn-lt"/>
                <a:cs typeface="+mn-lt"/>
              </a:rPr>
              <a:t>, esses </a:t>
            </a:r>
            <a:r>
              <a:rPr lang="en-US" sz="3400" dirty="0" err="1">
                <a:ea typeface="+mn-lt"/>
                <a:cs typeface="+mn-lt"/>
              </a:rPr>
              <a:t>pontos</a:t>
            </a:r>
            <a:r>
              <a:rPr lang="en-US" sz="3400" dirty="0">
                <a:ea typeface="+mn-lt"/>
                <a:cs typeface="+mn-lt"/>
              </a:rPr>
              <a:t> </a:t>
            </a:r>
            <a:r>
              <a:rPr lang="en-US" sz="3400" dirty="0" err="1">
                <a:ea typeface="+mn-lt"/>
                <a:cs typeface="+mn-lt"/>
              </a:rPr>
              <a:t>foram</a:t>
            </a:r>
            <a:r>
              <a:rPr lang="en-US" sz="3400" dirty="0">
                <a:ea typeface="+mn-lt"/>
                <a:cs typeface="+mn-lt"/>
              </a:rPr>
              <a:t> </a:t>
            </a:r>
            <a:r>
              <a:rPr lang="en-US" sz="3400" dirty="0" err="1">
                <a:ea typeface="+mn-lt"/>
                <a:cs typeface="+mn-lt"/>
              </a:rPr>
              <a:t>otimizados</a:t>
            </a:r>
            <a:r>
              <a:rPr lang="en-US" sz="3400" dirty="0">
                <a:ea typeface="+mn-lt"/>
                <a:cs typeface="+mn-lt"/>
              </a:rPr>
              <a:t>. A </a:t>
            </a:r>
            <a:r>
              <a:rPr lang="en-US" sz="3400" dirty="0" err="1">
                <a:ea typeface="+mn-lt"/>
                <a:cs typeface="+mn-lt"/>
              </a:rPr>
              <a:t>gestão</a:t>
            </a:r>
            <a:r>
              <a:rPr lang="en-US" sz="3400" dirty="0">
                <a:ea typeface="+mn-lt"/>
                <a:cs typeface="+mn-lt"/>
              </a:rPr>
              <a:t> de agenda </a:t>
            </a:r>
            <a:r>
              <a:rPr lang="en-US" sz="3400" dirty="0" err="1">
                <a:ea typeface="+mn-lt"/>
                <a:cs typeface="+mn-lt"/>
              </a:rPr>
              <a:t>tornou</a:t>
            </a:r>
            <a:r>
              <a:rPr lang="en-US" sz="3400" dirty="0">
                <a:ea typeface="+mn-lt"/>
                <a:cs typeface="+mn-lt"/>
              </a:rPr>
              <a:t>-se </a:t>
            </a:r>
            <a:r>
              <a:rPr lang="en-US" sz="3400" dirty="0" err="1">
                <a:ea typeface="+mn-lt"/>
                <a:cs typeface="+mn-lt"/>
              </a:rPr>
              <a:t>mais</a:t>
            </a:r>
            <a:r>
              <a:rPr lang="en-US" sz="3400" dirty="0">
                <a:ea typeface="+mn-lt"/>
                <a:cs typeface="+mn-lt"/>
              </a:rPr>
              <a:t> </a:t>
            </a:r>
            <a:r>
              <a:rPr lang="en-US" sz="3400" dirty="0" err="1">
                <a:ea typeface="+mn-lt"/>
                <a:cs typeface="+mn-lt"/>
              </a:rPr>
              <a:t>organizada</a:t>
            </a:r>
            <a:r>
              <a:rPr lang="en-US" sz="3400" dirty="0">
                <a:ea typeface="+mn-lt"/>
                <a:cs typeface="+mn-lt"/>
              </a:rPr>
              <a:t> e visual, o </a:t>
            </a:r>
            <a:r>
              <a:rPr lang="en-US" sz="3400" dirty="0" err="1">
                <a:ea typeface="+mn-lt"/>
                <a:cs typeface="+mn-lt"/>
              </a:rPr>
              <a:t>acompanhamento</a:t>
            </a:r>
            <a:r>
              <a:rPr lang="en-US" sz="3400" dirty="0">
                <a:ea typeface="+mn-lt"/>
                <a:cs typeface="+mn-lt"/>
              </a:rPr>
              <a:t> da </a:t>
            </a:r>
            <a:r>
              <a:rPr lang="en-US" sz="3400" dirty="0" err="1">
                <a:ea typeface="+mn-lt"/>
                <a:cs typeface="+mn-lt"/>
              </a:rPr>
              <a:t>evolução</a:t>
            </a:r>
            <a:r>
              <a:rPr lang="en-US" sz="3400" dirty="0">
                <a:ea typeface="+mn-lt"/>
                <a:cs typeface="+mn-lt"/>
              </a:rPr>
              <a:t> dos </a:t>
            </a:r>
            <a:r>
              <a:rPr lang="en-US" sz="3400" dirty="0" err="1">
                <a:ea typeface="+mn-lt"/>
                <a:cs typeface="+mn-lt"/>
              </a:rPr>
              <a:t>pacientes</a:t>
            </a:r>
            <a:r>
              <a:rPr lang="en-US" sz="3400" dirty="0">
                <a:ea typeface="+mn-lt"/>
                <a:cs typeface="+mn-lt"/>
              </a:rPr>
              <a:t> </a:t>
            </a:r>
            <a:r>
              <a:rPr lang="en-US" sz="3400" dirty="0" err="1">
                <a:ea typeface="+mn-lt"/>
                <a:cs typeface="+mn-lt"/>
              </a:rPr>
              <a:t>passou</a:t>
            </a:r>
            <a:r>
              <a:rPr lang="en-US" sz="3400" dirty="0">
                <a:ea typeface="+mn-lt"/>
                <a:cs typeface="+mn-lt"/>
              </a:rPr>
              <a:t> a ser </a:t>
            </a:r>
            <a:r>
              <a:rPr lang="en-US" sz="3400" dirty="0" err="1">
                <a:ea typeface="+mn-lt"/>
                <a:cs typeface="+mn-lt"/>
              </a:rPr>
              <a:t>registrado</a:t>
            </a:r>
            <a:r>
              <a:rPr lang="en-US" sz="3400" dirty="0">
                <a:ea typeface="+mn-lt"/>
                <a:cs typeface="+mn-lt"/>
              </a:rPr>
              <a:t> de forma </a:t>
            </a:r>
            <a:r>
              <a:rPr lang="en-US" sz="3400" dirty="0" err="1">
                <a:ea typeface="+mn-lt"/>
                <a:cs typeface="+mn-lt"/>
              </a:rPr>
              <a:t>clara</a:t>
            </a:r>
            <a:r>
              <a:rPr lang="en-US" sz="3400" dirty="0">
                <a:ea typeface="+mn-lt"/>
                <a:cs typeface="+mn-lt"/>
              </a:rPr>
              <a:t> e </a:t>
            </a:r>
            <a:r>
              <a:rPr lang="en-US" sz="3400" dirty="0" err="1">
                <a:ea typeface="+mn-lt"/>
                <a:cs typeface="+mn-lt"/>
              </a:rPr>
              <a:t>acessível</a:t>
            </a:r>
            <a:r>
              <a:rPr lang="en-US" sz="3400" dirty="0">
                <a:ea typeface="+mn-lt"/>
                <a:cs typeface="+mn-lt"/>
              </a:rPr>
              <a:t>, e </a:t>
            </a:r>
            <a:r>
              <a:rPr lang="en-US" sz="3400" dirty="0" err="1">
                <a:ea typeface="+mn-lt"/>
                <a:cs typeface="+mn-lt"/>
              </a:rPr>
              <a:t>os</a:t>
            </a:r>
            <a:r>
              <a:rPr lang="en-US" sz="3400" dirty="0">
                <a:ea typeface="+mn-lt"/>
                <a:cs typeface="+mn-lt"/>
              </a:rPr>
              <a:t> </a:t>
            </a:r>
            <a:r>
              <a:rPr lang="en-US" sz="3400" dirty="0" err="1">
                <a:ea typeface="+mn-lt"/>
                <a:cs typeface="+mn-lt"/>
              </a:rPr>
              <a:t>processos</a:t>
            </a:r>
            <a:r>
              <a:rPr lang="en-US" sz="3400" dirty="0">
                <a:ea typeface="+mn-lt"/>
                <a:cs typeface="+mn-lt"/>
              </a:rPr>
              <a:t> </a:t>
            </a:r>
            <a:r>
              <a:rPr lang="en-US" sz="3400" dirty="0" err="1">
                <a:ea typeface="+mn-lt"/>
                <a:cs typeface="+mn-lt"/>
              </a:rPr>
              <a:t>manuais</a:t>
            </a:r>
            <a:r>
              <a:rPr lang="en-US" sz="3400" dirty="0">
                <a:ea typeface="+mn-lt"/>
                <a:cs typeface="+mn-lt"/>
              </a:rPr>
              <a:t> </a:t>
            </a:r>
            <a:r>
              <a:rPr lang="en-US" sz="3400" dirty="0" err="1">
                <a:ea typeface="+mn-lt"/>
                <a:cs typeface="+mn-lt"/>
              </a:rPr>
              <a:t>foram</a:t>
            </a:r>
            <a:r>
              <a:rPr lang="en-US" sz="3400" dirty="0">
                <a:ea typeface="+mn-lt"/>
                <a:cs typeface="+mn-lt"/>
              </a:rPr>
              <a:t> </a:t>
            </a:r>
            <a:r>
              <a:rPr lang="en-US" sz="3400" dirty="0" err="1">
                <a:ea typeface="+mn-lt"/>
                <a:cs typeface="+mn-lt"/>
              </a:rPr>
              <a:t>digitalizados</a:t>
            </a:r>
            <a:r>
              <a:rPr lang="en-US" sz="3400" dirty="0">
                <a:ea typeface="+mn-lt"/>
                <a:cs typeface="+mn-lt"/>
              </a:rPr>
              <a:t>, </a:t>
            </a:r>
            <a:r>
              <a:rPr lang="en-US" sz="3400" dirty="0" err="1">
                <a:ea typeface="+mn-lt"/>
                <a:cs typeface="+mn-lt"/>
              </a:rPr>
              <a:t>tornando</a:t>
            </a:r>
            <a:r>
              <a:rPr lang="en-US" sz="3400" dirty="0">
                <a:ea typeface="+mn-lt"/>
                <a:cs typeface="+mn-lt"/>
              </a:rPr>
              <a:t> o </a:t>
            </a:r>
            <a:r>
              <a:rPr lang="en-US" sz="3400" dirty="0" err="1">
                <a:ea typeface="+mn-lt"/>
                <a:cs typeface="+mn-lt"/>
              </a:rPr>
              <a:t>trabalho</a:t>
            </a:r>
            <a:r>
              <a:rPr lang="en-US" sz="3400" dirty="0">
                <a:ea typeface="+mn-lt"/>
                <a:cs typeface="+mn-lt"/>
              </a:rPr>
              <a:t> </a:t>
            </a:r>
            <a:r>
              <a:rPr lang="en-US" sz="3400" dirty="0" err="1">
                <a:ea typeface="+mn-lt"/>
                <a:cs typeface="+mn-lt"/>
              </a:rPr>
              <a:t>mais</a:t>
            </a:r>
            <a:r>
              <a:rPr lang="en-US" sz="3400" dirty="0">
                <a:ea typeface="+mn-lt"/>
                <a:cs typeface="+mn-lt"/>
              </a:rPr>
              <a:t> </a:t>
            </a:r>
            <a:r>
              <a:rPr lang="en-US" sz="3400" dirty="0" err="1">
                <a:ea typeface="+mn-lt"/>
                <a:cs typeface="+mn-lt"/>
              </a:rPr>
              <a:t>ágil</a:t>
            </a:r>
            <a:r>
              <a:rPr lang="en-US" sz="3400" dirty="0">
                <a:ea typeface="+mn-lt"/>
                <a:cs typeface="+mn-lt"/>
              </a:rPr>
              <a:t>, </a:t>
            </a:r>
            <a:r>
              <a:rPr lang="en-US" sz="3400" dirty="0" err="1">
                <a:ea typeface="+mn-lt"/>
                <a:cs typeface="+mn-lt"/>
              </a:rPr>
              <a:t>eficiente</a:t>
            </a:r>
            <a:r>
              <a:rPr lang="en-US" sz="3400" dirty="0">
                <a:ea typeface="+mn-lt"/>
                <a:cs typeface="+mn-lt"/>
              </a:rPr>
              <a:t> e </a:t>
            </a:r>
            <a:r>
              <a:rPr lang="en-US" sz="3400" dirty="0" err="1">
                <a:ea typeface="+mn-lt"/>
                <a:cs typeface="+mn-lt"/>
              </a:rPr>
              <a:t>menos</a:t>
            </a:r>
            <a:r>
              <a:rPr lang="en-US" sz="3400" dirty="0">
                <a:ea typeface="+mn-lt"/>
                <a:cs typeface="+mn-lt"/>
              </a:rPr>
              <a:t> </a:t>
            </a:r>
            <a:r>
              <a:rPr lang="en-US" sz="3400" dirty="0" err="1">
                <a:ea typeface="+mn-lt"/>
                <a:cs typeface="+mn-lt"/>
              </a:rPr>
              <a:t>suscetível</a:t>
            </a:r>
            <a:r>
              <a:rPr lang="en-US" sz="3400" dirty="0">
                <a:ea typeface="+mn-lt"/>
                <a:cs typeface="+mn-lt"/>
              </a:rPr>
              <a:t> a </a:t>
            </a:r>
            <a:r>
              <a:rPr lang="en-US" sz="3400" dirty="0" err="1">
                <a:ea typeface="+mn-lt"/>
                <a:cs typeface="+mn-lt"/>
              </a:rPr>
              <a:t>erros</a:t>
            </a:r>
            <a:r>
              <a:rPr lang="en-US" sz="3400" dirty="0">
                <a:ea typeface="+mn-lt"/>
                <a:cs typeface="+mn-lt"/>
              </a:rPr>
              <a:t>.</a:t>
            </a:r>
            <a:endParaRPr lang="en-US" sz="3400" dirty="0">
              <a:ea typeface="Calibri"/>
              <a:cs typeface="Calibri"/>
            </a:endParaRPr>
          </a:p>
          <a:p>
            <a:pPr algn="just"/>
            <a:endParaRPr lang="en-US" sz="3400" dirty="0">
              <a:ea typeface="Calibri"/>
              <a:cs typeface="Calibri"/>
            </a:endParaRPr>
          </a:p>
          <a:p>
            <a:pPr algn="just"/>
            <a:r>
              <a:rPr lang="en-US" sz="3400" dirty="0">
                <a:ea typeface="+mn-lt"/>
                <a:cs typeface="+mn-lt"/>
              </a:rPr>
              <a:t>Neste </a:t>
            </a:r>
            <a:r>
              <a:rPr lang="en-US" sz="3400" dirty="0" err="1">
                <a:ea typeface="+mn-lt"/>
                <a:cs typeface="+mn-lt"/>
              </a:rPr>
              <a:t>projeto</a:t>
            </a:r>
            <a:r>
              <a:rPr lang="en-US" sz="3400" dirty="0">
                <a:ea typeface="+mn-lt"/>
                <a:cs typeface="+mn-lt"/>
              </a:rPr>
              <a:t>, </a:t>
            </a:r>
            <a:r>
              <a:rPr lang="en-US" sz="3400" dirty="0" err="1">
                <a:ea typeface="+mn-lt"/>
                <a:cs typeface="+mn-lt"/>
              </a:rPr>
              <a:t>destacam</a:t>
            </a:r>
            <a:r>
              <a:rPr lang="en-US" sz="3400" dirty="0">
                <a:ea typeface="+mn-lt"/>
                <a:cs typeface="+mn-lt"/>
              </a:rPr>
              <a:t>-se </a:t>
            </a:r>
            <a:r>
              <a:rPr lang="en-US" sz="3400" dirty="0" err="1">
                <a:ea typeface="+mn-lt"/>
                <a:cs typeface="+mn-lt"/>
              </a:rPr>
              <a:t>como</a:t>
            </a:r>
            <a:r>
              <a:rPr lang="en-US" sz="3400" dirty="0">
                <a:ea typeface="+mn-lt"/>
                <a:cs typeface="+mn-lt"/>
              </a:rPr>
              <a:t> </a:t>
            </a:r>
            <a:r>
              <a:rPr lang="en-US" sz="3400" dirty="0" err="1">
                <a:ea typeface="+mn-lt"/>
                <a:cs typeface="+mn-lt"/>
              </a:rPr>
              <a:t>principais</a:t>
            </a:r>
            <a:r>
              <a:rPr lang="en-US" sz="3400" dirty="0">
                <a:ea typeface="+mn-lt"/>
                <a:cs typeface="+mn-lt"/>
              </a:rPr>
              <a:t> </a:t>
            </a:r>
            <a:r>
              <a:rPr lang="en-US" sz="3400" dirty="0" err="1">
                <a:ea typeface="+mn-lt"/>
                <a:cs typeface="+mn-lt"/>
              </a:rPr>
              <a:t>entregas</a:t>
            </a:r>
            <a:r>
              <a:rPr lang="en-US" sz="3400" dirty="0">
                <a:ea typeface="+mn-lt"/>
                <a:cs typeface="+mn-lt"/>
              </a:rPr>
              <a:t> as </a:t>
            </a:r>
            <a:r>
              <a:rPr lang="en-US" sz="3400" dirty="0" err="1">
                <a:ea typeface="+mn-lt"/>
                <a:cs typeface="+mn-lt"/>
              </a:rPr>
              <a:t>telas</a:t>
            </a:r>
            <a:r>
              <a:rPr lang="en-US" sz="3400" dirty="0">
                <a:ea typeface="+mn-lt"/>
                <a:cs typeface="+mn-lt"/>
              </a:rPr>
              <a:t> </a:t>
            </a:r>
            <a:r>
              <a:rPr lang="en-US" sz="3400" dirty="0" err="1">
                <a:ea typeface="+mn-lt"/>
                <a:cs typeface="+mn-lt"/>
              </a:rPr>
              <a:t>desenvolvidas</a:t>
            </a:r>
            <a:r>
              <a:rPr lang="en-US" sz="3400" dirty="0">
                <a:ea typeface="+mn-lt"/>
                <a:cs typeface="+mn-lt"/>
              </a:rPr>
              <a:t> para </a:t>
            </a:r>
            <a:r>
              <a:rPr lang="en-US" sz="3400" dirty="0" err="1">
                <a:ea typeface="+mn-lt"/>
                <a:cs typeface="+mn-lt"/>
              </a:rPr>
              <a:t>os</a:t>
            </a:r>
            <a:r>
              <a:rPr lang="en-US" sz="3400" dirty="0">
                <a:ea typeface="+mn-lt"/>
                <a:cs typeface="+mn-lt"/>
              </a:rPr>
              <a:t> </a:t>
            </a:r>
            <a:r>
              <a:rPr lang="en-US" sz="3400" dirty="0" err="1">
                <a:ea typeface="+mn-lt"/>
                <a:cs typeface="+mn-lt"/>
              </a:rPr>
              <a:t>diferentes</a:t>
            </a:r>
            <a:r>
              <a:rPr lang="en-US" sz="3400" dirty="0">
                <a:ea typeface="+mn-lt"/>
                <a:cs typeface="+mn-lt"/>
              </a:rPr>
              <a:t> </a:t>
            </a:r>
            <a:r>
              <a:rPr lang="en-US" sz="3400" dirty="0" err="1">
                <a:ea typeface="+mn-lt"/>
                <a:cs typeface="+mn-lt"/>
              </a:rPr>
              <a:t>perfis</a:t>
            </a:r>
            <a:r>
              <a:rPr lang="en-US" sz="3400" dirty="0">
                <a:ea typeface="+mn-lt"/>
                <a:cs typeface="+mn-lt"/>
              </a:rPr>
              <a:t> de </a:t>
            </a:r>
            <a:r>
              <a:rPr lang="en-US" sz="3400" dirty="0" err="1">
                <a:ea typeface="+mn-lt"/>
                <a:cs typeface="+mn-lt"/>
              </a:rPr>
              <a:t>usuário</a:t>
            </a:r>
            <a:r>
              <a:rPr lang="en-US" sz="3400" dirty="0">
                <a:ea typeface="+mn-lt"/>
                <a:cs typeface="+mn-lt"/>
              </a:rPr>
              <a:t>, </a:t>
            </a:r>
            <a:r>
              <a:rPr lang="en-US" sz="3400" dirty="0" err="1">
                <a:ea typeface="+mn-lt"/>
                <a:cs typeface="+mn-lt"/>
              </a:rPr>
              <a:t>evidenciando</a:t>
            </a:r>
            <a:r>
              <a:rPr lang="en-US" sz="3400" dirty="0">
                <a:ea typeface="+mn-lt"/>
                <a:cs typeface="+mn-lt"/>
              </a:rPr>
              <a:t> as </a:t>
            </a:r>
            <a:r>
              <a:rPr lang="en-US" sz="3400" dirty="0" err="1">
                <a:ea typeface="+mn-lt"/>
                <a:cs typeface="+mn-lt"/>
              </a:rPr>
              <a:t>funcionalidades</a:t>
            </a:r>
            <a:r>
              <a:rPr lang="en-US" sz="3400" dirty="0">
                <a:ea typeface="+mn-lt"/>
                <a:cs typeface="+mn-lt"/>
              </a:rPr>
              <a:t> </a:t>
            </a:r>
            <a:r>
              <a:rPr lang="en-US" sz="3400" dirty="0" err="1">
                <a:ea typeface="+mn-lt"/>
                <a:cs typeface="+mn-lt"/>
              </a:rPr>
              <a:t>essenciais</a:t>
            </a:r>
            <a:r>
              <a:rPr lang="en-US" sz="3400" dirty="0">
                <a:ea typeface="+mn-lt"/>
                <a:cs typeface="+mn-lt"/>
              </a:rPr>
              <a:t> do </a:t>
            </a:r>
            <a:r>
              <a:rPr lang="en-US" sz="3400" dirty="0" err="1">
                <a:ea typeface="+mn-lt"/>
                <a:cs typeface="+mn-lt"/>
              </a:rPr>
              <a:t>sistema</a:t>
            </a:r>
            <a:r>
              <a:rPr lang="en-US" sz="3400" dirty="0">
                <a:ea typeface="+mn-lt"/>
                <a:cs typeface="+mn-lt"/>
              </a:rPr>
              <a:t>.</a:t>
            </a:r>
            <a:endParaRPr lang="en-US" dirty="0"/>
          </a:p>
          <a:p>
            <a:pPr algn="just"/>
            <a:endParaRPr lang="en-US" sz="3400" dirty="0">
              <a:ea typeface="+mn-lt"/>
              <a:cs typeface="+mn-lt"/>
            </a:endParaRPr>
          </a:p>
          <a:p>
            <a:pPr algn="just"/>
            <a:r>
              <a:rPr lang="en-US" sz="3400" b="1" dirty="0">
                <a:ea typeface="+mn-lt"/>
                <a:cs typeface="+mn-lt"/>
              </a:rPr>
              <a:t>Cliente (Aplicativo Mobile):</a:t>
            </a:r>
            <a:endParaRPr lang="en-US" sz="3550" dirty="0"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3400" dirty="0">
                <a:ea typeface="+mn-lt"/>
                <a:cs typeface="+mn-lt"/>
              </a:rPr>
              <a:t>Agendamento de consultas </a:t>
            </a:r>
            <a:endParaRPr lang="en-US" sz="3550" dirty="0"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3400" dirty="0">
                <a:ea typeface="+mn-lt"/>
                <a:cs typeface="+mn-lt"/>
              </a:rPr>
              <a:t>Visualização de exercícios </a:t>
            </a:r>
            <a:endParaRPr lang="en-US" sz="3550" dirty="0"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3400" dirty="0">
                <a:ea typeface="+mn-lt"/>
                <a:cs typeface="+mn-lt"/>
              </a:rPr>
              <a:t>Acompanhamento da evolução </a:t>
            </a:r>
            <a:endParaRPr lang="en-US" sz="3550" dirty="0"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3400" dirty="0">
                <a:ea typeface="+mn-lt"/>
                <a:cs typeface="+mn-lt"/>
              </a:rPr>
              <a:t>Tela inicial / navegação </a:t>
            </a:r>
            <a:endParaRPr lang="en-US" sz="3550" dirty="0">
              <a:ea typeface="+mn-lt"/>
              <a:cs typeface="+mn-lt"/>
            </a:endParaRPr>
          </a:p>
          <a:p>
            <a:pPr algn="just"/>
            <a:r>
              <a:rPr lang="en-US" sz="3400" b="1">
                <a:ea typeface="+mn-lt"/>
                <a:cs typeface="+mn-lt"/>
              </a:rPr>
              <a:t>Administradora (Interface Web):</a:t>
            </a:r>
            <a:endParaRPr lang="en-US" sz="3550"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3400" dirty="0">
                <a:ea typeface="+mn-lt"/>
                <a:cs typeface="+mn-lt"/>
              </a:rPr>
              <a:t>Gerenciamento de agenda </a:t>
            </a:r>
            <a:endParaRPr lang="en-US" sz="3550" dirty="0"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3400" dirty="0">
                <a:ea typeface="+mn-lt"/>
                <a:cs typeface="+mn-lt"/>
              </a:rPr>
              <a:t>Cadastro e ficha de pacientes </a:t>
            </a:r>
            <a:endParaRPr lang="en-US" sz="3550" dirty="0"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3400" dirty="0">
                <a:ea typeface="+mn-lt"/>
                <a:cs typeface="+mn-lt"/>
              </a:rPr>
              <a:t>Criação de exercícios </a:t>
            </a:r>
            <a:endParaRPr lang="en-US" sz="3550" dirty="0"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3400" dirty="0">
                <a:ea typeface="+mn-lt"/>
                <a:cs typeface="+mn-lt"/>
              </a:rPr>
              <a:t>Dashboard e alertas</a:t>
            </a:r>
            <a:endParaRPr lang="en-US" sz="3550" dirty="0">
              <a:ea typeface="Calibri"/>
              <a:cs typeface="Calibri"/>
            </a:endParaRPr>
          </a:p>
          <a:p>
            <a:pPr algn="just"/>
            <a:endParaRPr lang="en-US" sz="3400" dirty="0">
              <a:ea typeface="Calibri"/>
              <a:cs typeface="Calibri"/>
            </a:endParaRPr>
          </a:p>
          <a:p>
            <a:pPr algn="just"/>
            <a:endParaRPr lang="en-US" sz="3400" b="1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576</Words>
  <Application>Microsoft Office PowerPoint</Application>
  <PresentationFormat>Personalizar</PresentationFormat>
  <Paragraphs>41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POSTER FECAP</dc:title>
  <cp:lastModifiedBy>Victor Bruno Alexander Rosetti de Quiroz</cp:lastModifiedBy>
  <cp:revision>89</cp:revision>
  <dcterms:created xsi:type="dcterms:W3CDTF">2006-08-16T00:00:00Z</dcterms:created>
  <dcterms:modified xsi:type="dcterms:W3CDTF">2026-05-04T21:11:22Z</dcterms:modified>
  <dc:identifier>DAHA7VomhzE</dc:identifier>
</cp:coreProperties>
</file>